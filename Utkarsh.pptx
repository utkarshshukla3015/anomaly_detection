
<file path=[Content_Types].xml><?xml version="1.0" encoding="utf-8"?>
<Types xmlns="http://schemas.openxmlformats.org/package/2006/content-types">
  <Default Extension="emf" ContentType="image/x-em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1" r:id="rId1"/>
  </p:sldMasterIdLst>
  <p:notesMasterIdLst>
    <p:notesMasterId r:id="rId13"/>
  </p:notesMasterIdLst>
  <p:sldIdLst>
    <p:sldId id="256" r:id="rId2"/>
    <p:sldId id="257" r:id="rId3"/>
    <p:sldId id="262" r:id="rId4"/>
    <p:sldId id="263" r:id="rId5"/>
    <p:sldId id="265" r:id="rId6"/>
    <p:sldId id="258" r:id="rId7"/>
    <p:sldId id="266" r:id="rId8"/>
    <p:sldId id="267" r:id="rId9"/>
    <p:sldId id="268" r:id="rId10"/>
    <p:sldId id="269" r:id="rId11"/>
    <p:sldId id="261"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574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0" d="100"/>
          <a:sy n="80" d="100"/>
        </p:scale>
        <p:origin x="78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0C2070-776D-49AB-B5FD-AC3AC757EB37}" type="datetimeFigureOut">
              <a:rPr lang="en-US" smtClean="0"/>
              <a:t>1/21/2024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644974-0518-4AD5-A222-90AC91FA711B}" type="slidenum">
              <a:rPr lang="en-US" smtClean="0"/>
              <a:t>‹#›</a:t>
            </a:fld>
            <a:endParaRPr lang="en-US"/>
          </a:p>
        </p:txBody>
      </p:sp>
    </p:spTree>
    <p:extLst>
      <p:ext uri="{BB962C8B-B14F-4D97-AF65-F5344CB8AC3E}">
        <p14:creationId xmlns:p14="http://schemas.microsoft.com/office/powerpoint/2010/main" val="3451320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28403" y="945913"/>
            <a:ext cx="8637073" cy="2618554"/>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1128404" y="3564467"/>
            <a:ext cx="8637072" cy="1071095"/>
          </a:xfrm>
        </p:spPr>
        <p:txBody>
          <a:bodyPr tIns="91440" bIns="91440">
            <a:normAutofit/>
          </a:bodyPr>
          <a:lstStyle>
            <a:lvl1pPr marL="0" indent="0" algn="l">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41782DE-2C32-44AB-9B20-90E976386C26}" type="datetime1">
              <a:rPr lang="en-US" smtClean="0"/>
              <a:t>1/21/2024</a:t>
            </a:fld>
            <a:endParaRPr lang="en-US"/>
          </a:p>
        </p:txBody>
      </p:sp>
      <p:sp>
        <p:nvSpPr>
          <p:cNvPr id="5" name="Footer Placeholder 4"/>
          <p:cNvSpPr>
            <a:spLocks noGrp="1"/>
          </p:cNvSpPr>
          <p:nvPr>
            <p:ph type="ftr" sz="quarter" idx="11"/>
          </p:nvPr>
        </p:nvSpPr>
        <p:spPr>
          <a:xfrm>
            <a:off x="1127124" y="329307"/>
            <a:ext cx="5943668" cy="309201"/>
          </a:xfrm>
        </p:spPr>
        <p:txBody>
          <a:bodyPr/>
          <a:lstStyle/>
          <a:p>
            <a:endParaRPr lang="en-US"/>
          </a:p>
        </p:txBody>
      </p:sp>
      <p:sp>
        <p:nvSpPr>
          <p:cNvPr id="6" name="Slide Number Placeholder 5"/>
          <p:cNvSpPr>
            <a:spLocks noGrp="1"/>
          </p:cNvSpPr>
          <p:nvPr>
            <p:ph type="sldNum" sz="quarter" idx="12"/>
          </p:nvPr>
        </p:nvSpPr>
        <p:spPr>
          <a:xfrm>
            <a:off x="9924392" y="134930"/>
            <a:ext cx="811019" cy="503578"/>
          </a:xfrm>
        </p:spPr>
        <p:txBody>
          <a:bodyPr/>
          <a:lstStyle/>
          <a:p>
            <a:fld id="{E3BB60B1-1EEA-42A6-8EA2-AFF0CEAB4E01}" type="slidenum">
              <a:rPr lang="en-US" smtClean="0"/>
              <a:t>‹#›</a:t>
            </a:fld>
            <a:endParaRPr 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118555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sz="1200"/>
            </a:lvl1pPr>
          </a:lstStyle>
          <a:p>
            <a:fld id="{70700E3D-8AA8-43D8-8293-279B5A2AF33B}" type="datetime1">
              <a:rPr lang="en-US" smtClean="0"/>
              <a:t>1/21/2024</a:t>
            </a:fld>
            <a:endParaRPr lang="en-US"/>
          </a:p>
        </p:txBody>
      </p:sp>
      <p:sp>
        <p:nvSpPr>
          <p:cNvPr id="5" name="Footer Placeholder 4"/>
          <p:cNvSpPr>
            <a:spLocks noGrp="1"/>
          </p:cNvSpPr>
          <p:nvPr>
            <p:ph type="ftr" sz="quarter" idx="11"/>
          </p:nvPr>
        </p:nvSpPr>
        <p:spPr/>
        <p:txBody>
          <a:bodyPr/>
          <a:lstStyle>
            <a:lvl1pPr>
              <a:defRPr sz="1200"/>
            </a:lvl1pPr>
          </a:lstStyle>
          <a:p>
            <a:endParaRPr lang="en-US"/>
          </a:p>
        </p:txBody>
      </p:sp>
      <p:sp>
        <p:nvSpPr>
          <p:cNvPr id="6" name="Slide Number Placeholder 5"/>
          <p:cNvSpPr>
            <a:spLocks noGrp="1"/>
          </p:cNvSpPr>
          <p:nvPr>
            <p:ph type="sldNum" sz="quarter" idx="12"/>
          </p:nvPr>
        </p:nvSpPr>
        <p:spPr/>
        <p:txBody>
          <a:bodyPr/>
          <a:lstStyle/>
          <a:p>
            <a:fld id="{E3BB60B1-1EEA-42A6-8EA2-AFF0CEAB4E01}" type="slidenum">
              <a:rPr lang="en-US" smtClean="0"/>
              <a:t>‹#›</a:t>
            </a:fld>
            <a:endParaRPr lang="en-US"/>
          </a:p>
        </p:txBody>
      </p:sp>
      <p:pic>
        <p:nvPicPr>
          <p:cNvPr id="24" name="Picture 23"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28759751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29167" y="1756129"/>
            <a:ext cx="8619060" cy="2050065"/>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hasCustomPrompt="1"/>
          </p:nvPr>
        </p:nvSpPr>
        <p:spPr>
          <a:xfrm>
            <a:off x="1129166" y="3806195"/>
            <a:ext cx="8619060"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7AE36B0B-FA79-4D60-B304-6FD3EEEDCD00}" type="datetime1">
              <a:rPr lang="en-US" smtClean="0"/>
              <a:t>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BB60B1-1EEA-42A6-8EA2-AFF0CEAB4E01}" type="slidenum">
              <a:rPr lang="en-US" smtClean="0"/>
              <a:t>‹#›</a:t>
            </a:fld>
            <a:endParaRPr 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2554807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31052" y="958037"/>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129166" y="2165621"/>
            <a:ext cx="4645152" cy="32938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95606" y="2171769"/>
            <a:ext cx="4645152" cy="3287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CA304D4-CDD4-48C3-B2A1-99930B48ADE5}" type="datetime1">
              <a:rPr lang="en-US" smtClean="0"/>
              <a:t>1/21/2024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BB60B1-1EEA-42A6-8EA2-AFF0CEAB4E01}" type="slidenum">
              <a:rPr lang="en-US" smtClean="0"/>
              <a:t>‹#›</a:t>
            </a:fld>
            <a:endParaRPr 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4104383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29166" y="953336"/>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29166" y="2169727"/>
            <a:ext cx="4645152" cy="801943"/>
          </a:xfrm>
        </p:spPr>
        <p:txBody>
          <a:bodyPr anchor="b">
            <a:normAutofit/>
          </a:bodyPr>
          <a:lstStyle>
            <a:lvl1pPr marL="0" indent="0">
              <a:lnSpc>
                <a:spcPct val="100000"/>
              </a:lnSpc>
              <a:buNone/>
              <a:defRPr sz="2800" b="0" cap="none"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29166" y="2974448"/>
            <a:ext cx="4645152" cy="24938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4337" y="2173181"/>
            <a:ext cx="4645152" cy="802237"/>
          </a:xfrm>
        </p:spPr>
        <p:txBody>
          <a:bodyPr anchor="b">
            <a:normAutofit/>
          </a:bodyPr>
          <a:lstStyle>
            <a:lvl1pPr marL="0" indent="0">
              <a:lnSpc>
                <a:spcPct val="100000"/>
              </a:lnSpc>
              <a:buNone/>
              <a:defRPr sz="2800" b="0" cap="none"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94337" y="2971669"/>
            <a:ext cx="4645152" cy="2487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3EF4AAC-64FF-4165-A832-BC2C7F555928}" type="datetime1">
              <a:rPr lang="en-US" smtClean="0"/>
              <a:t>1/21/2024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3BB60B1-1EEA-42A6-8EA2-AFF0CEAB4E01}" type="slidenum">
              <a:rPr lang="en-US" smtClean="0"/>
              <a:t>‹#›</a:t>
            </a:fld>
            <a:endParaRPr lang="en-US"/>
          </a:p>
        </p:txBody>
      </p:sp>
      <p:pic>
        <p:nvPicPr>
          <p:cNvPr id="18" name="Picture 17"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1660985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4D1C43E-F7B5-4F04-8C0A-D21AC94B3200}" type="datetime1">
              <a:rPr lang="en-US" smtClean="0"/>
              <a:t>1/21/2024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3BB60B1-1EEA-42A6-8EA2-AFF0CEAB4E01}" type="slidenum">
              <a:rPr lang="en-US" smtClean="0"/>
              <a:t>‹#›</a:t>
            </a:fld>
            <a:endParaRPr lang="en-US"/>
          </a:p>
        </p:txBody>
      </p:sp>
      <p:pic>
        <p:nvPicPr>
          <p:cNvPr id="14" name="Picture 13"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4550966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FB60007-75A2-4172-80CF-5677C4302DB4}" type="datetime1">
              <a:rPr lang="en-US" smtClean="0"/>
              <a:t>1/21/2024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3BB60B1-1EEA-42A6-8EA2-AFF0CEAB4E01}" type="slidenum">
              <a:rPr lang="en-US" smtClean="0"/>
              <a:t>‹#›</a:t>
            </a:fld>
            <a:endParaRPr lang="en-US"/>
          </a:p>
        </p:txBody>
      </p:sp>
    </p:spTree>
    <p:extLst>
      <p:ext uri="{BB962C8B-B14F-4D97-AF65-F5344CB8AC3E}">
        <p14:creationId xmlns:p14="http://schemas.microsoft.com/office/powerpoint/2010/main" val="32327821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24291" y="952578"/>
            <a:ext cx="3275013" cy="2322176"/>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723334" y="952578"/>
            <a:ext cx="6012470" cy="4505221"/>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24291" y="3274754"/>
            <a:ext cx="3275013" cy="2178918"/>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0C64F9A-0914-4E5F-8711-2E65AEE9EBFD}" type="datetime1">
              <a:rPr lang="en-US" smtClean="0"/>
              <a:t>1/21/2024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BB60B1-1EEA-42A6-8EA2-AFF0CEAB4E01}" type="slidenum">
              <a:rPr lang="en-US" smtClean="0"/>
              <a:t>‹#›</a:t>
            </a:fld>
            <a:endParaRPr lang="en-US"/>
          </a:p>
        </p:txBody>
      </p:sp>
      <p:pic>
        <p:nvPicPr>
          <p:cNvPr id="16" name="Picture 15"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11082676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gradFill>
              <a:gsLst>
                <a:gs pos="0">
                  <a:schemeClr val="tx1">
                    <a:lumMod val="85000"/>
                    <a:lumOff val="15000"/>
                  </a:schemeClr>
                </a:gs>
                <a:gs pos="100000">
                  <a:schemeClr val="tx1">
                    <a:lumMod val="95000"/>
                    <a:lumOff val="5000"/>
                  </a:schemeClr>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14300" prst="artDeco"/>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129124" y="1129513"/>
            <a:ext cx="5854872" cy="1924208"/>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28247" y="3053721"/>
            <a:ext cx="5846486" cy="2096013"/>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125300" y="5469856"/>
            <a:ext cx="5849605" cy="320123"/>
          </a:xfrm>
        </p:spPr>
        <p:txBody>
          <a:bodyPr/>
          <a:lstStyle>
            <a:lvl1pPr algn="l">
              <a:defRPr/>
            </a:lvl1pPr>
          </a:lstStyle>
          <a:p>
            <a:fld id="{5761693E-C5A2-4E76-AAB2-EC05B33DEF40}" type="datetime1">
              <a:rPr lang="en-US" smtClean="0"/>
              <a:t>1/21/2024</a:t>
            </a:fld>
            <a:endParaRPr lang="en-US"/>
          </a:p>
        </p:txBody>
      </p:sp>
      <p:sp>
        <p:nvSpPr>
          <p:cNvPr id="6" name="Footer Placeholder 5"/>
          <p:cNvSpPr>
            <a:spLocks noGrp="1"/>
          </p:cNvSpPr>
          <p:nvPr>
            <p:ph type="ftr" sz="quarter" idx="11"/>
          </p:nvPr>
        </p:nvSpPr>
        <p:spPr>
          <a:xfrm>
            <a:off x="1125300" y="318640"/>
            <a:ext cx="4877818" cy="320931"/>
          </a:xfrm>
        </p:spPr>
        <p:txBody>
          <a:bodyPr/>
          <a:lstStyle/>
          <a:p>
            <a:endParaRPr lang="en-US"/>
          </a:p>
        </p:txBody>
      </p:sp>
      <p:sp>
        <p:nvSpPr>
          <p:cNvPr id="7" name="Slide Number Placeholder 6"/>
          <p:cNvSpPr>
            <a:spLocks noGrp="1"/>
          </p:cNvSpPr>
          <p:nvPr>
            <p:ph type="sldNum" sz="quarter" idx="12"/>
          </p:nvPr>
        </p:nvSpPr>
        <p:spPr>
          <a:xfrm>
            <a:off x="6176794" y="137408"/>
            <a:ext cx="811019" cy="503578"/>
          </a:xfrm>
        </p:spPr>
        <p:txBody>
          <a:bodyPr/>
          <a:lstStyle/>
          <a:p>
            <a:fld id="{E3BB60B1-1EEA-42A6-8EA2-AFF0CEAB4E01}" type="slidenum">
              <a:rPr lang="en-US" smtClean="0"/>
              <a:t>‹#›</a:t>
            </a:fld>
            <a:endParaRPr lang="en-US"/>
          </a:p>
        </p:txBody>
      </p:sp>
      <p:pic>
        <p:nvPicPr>
          <p:cNvPr id="22" name="Picture 21"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6" t="474" r="48549" b="36564"/>
          <a:stretch/>
        </p:blipFill>
        <p:spPr>
          <a:xfrm>
            <a:off x="1125460" y="643464"/>
            <a:ext cx="5879592" cy="155448"/>
          </a:xfrm>
          <a:prstGeom prst="rect">
            <a:avLst/>
          </a:prstGeom>
          <a:noFill/>
          <a:ln>
            <a:noFill/>
          </a:ln>
        </p:spPr>
      </p:pic>
    </p:spTree>
    <p:extLst>
      <p:ext uri="{BB962C8B-B14F-4D97-AF65-F5344CB8AC3E}">
        <p14:creationId xmlns:p14="http://schemas.microsoft.com/office/powerpoint/2010/main" val="14300596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14BAE1-6FE2-47DC-A9C8-7E31FF60B6D4}" type="datetime1">
              <a:rPr lang="en-US" smtClean="0"/>
              <a:t>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BB60B1-1EEA-42A6-8EA2-AFF0CEAB4E01}" type="slidenum">
              <a:rPr lang="en-US" smtClean="0"/>
              <a:t>‹#›</a:t>
            </a:fld>
            <a:endParaRPr lang="en-US"/>
          </a:p>
        </p:txBody>
      </p:sp>
      <p:pic>
        <p:nvPicPr>
          <p:cNvPr id="15" name="Picture 14"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15828" b="36435"/>
          <a:stretch/>
        </p:blipFill>
        <p:spPr>
          <a:xfrm>
            <a:off x="1125460" y="643464"/>
            <a:ext cx="9610344" cy="155448"/>
          </a:xfrm>
          <a:prstGeom prst="rect">
            <a:avLst/>
          </a:prstGeom>
          <a:noFill/>
          <a:ln>
            <a:noFill/>
          </a:ln>
        </p:spPr>
      </p:pic>
    </p:spTree>
    <p:extLst>
      <p:ext uri="{BB962C8B-B14F-4D97-AF65-F5344CB8AC3E}">
        <p14:creationId xmlns:p14="http://schemas.microsoft.com/office/powerpoint/2010/main" val="138754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4709"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130270"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1B60097-8542-4805-8AD9-167D9555DCBB}" type="datetime1">
              <a:rPr lang="en-US" smtClean="0"/>
              <a:t>1/21/2024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BB60B1-1EEA-42A6-8EA2-AFF0CEAB4E01}" type="slidenum">
              <a:rPr lang="en-US" smtClean="0"/>
              <a:t>‹#›</a:t>
            </a:fld>
            <a:endParaRPr lang="en-US"/>
          </a:p>
        </p:txBody>
      </p:sp>
      <p:pic>
        <p:nvPicPr>
          <p:cNvPr id="17" name="Picture 16" descr="RedHashing.emf"/>
          <p:cNvPicPr>
            <a:picLocks/>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115" r="59215" b="36435"/>
          <a:stretch/>
        </p:blipFill>
        <p:spPr>
          <a:xfrm rot="5400000">
            <a:off x="8642279" y="3046916"/>
            <a:ext cx="4663440" cy="155448"/>
          </a:xfrm>
          <a:prstGeom prst="rect">
            <a:avLst/>
          </a:prstGeom>
          <a:noFill/>
          <a:ln>
            <a:noFill/>
          </a:ln>
        </p:spPr>
      </p:pic>
    </p:spTree>
    <p:extLst>
      <p:ext uri="{BB962C8B-B14F-4D97-AF65-F5344CB8AC3E}">
        <p14:creationId xmlns:p14="http://schemas.microsoft.com/office/powerpoint/2010/main" val="29570114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50000"/>
            <a:lum/>
          </a:blip>
          <a:srcRect/>
          <a:stretch>
            <a:fillRect t="-9000" b="-9000"/>
          </a:stretch>
        </a:blipFill>
        <a:effectLst/>
      </p:bgPr>
    </p:bg>
    <p:spTree>
      <p:nvGrpSpPr>
        <p:cNvPr id="1" name=""/>
        <p:cNvGrpSpPr/>
        <p:nvPr/>
      </p:nvGrpSpPr>
      <p:grpSpPr>
        <a:xfrm>
          <a:off x="0" y="0"/>
          <a:ext cx="0" cy="0"/>
          <a:chOff x="0" y="0"/>
          <a:chExt cx="0" cy="0"/>
        </a:xfrm>
      </p:grpSpPr>
      <p:pic>
        <p:nvPicPr>
          <p:cNvPr id="12" name="Picture 11"/>
          <p:cNvPicPr>
            <a:picLocks noChangeAspect="1"/>
          </p:cNvPicPr>
          <p:nvPr/>
        </p:nvPicPr>
        <p:blipFill rotWithShape="1">
          <a:blip r:embed="rId14">
            <a:extLst>
              <a:ext uri="{28A0092B-C50C-407E-A947-70E740481C1C}">
                <a14:useLocalDpi xmlns:a14="http://schemas.microsoft.com/office/drawing/2010/main" val="0"/>
              </a:ext>
            </a:extLst>
          </a:blip>
          <a:srcRect t="1538" b="-1538"/>
          <a:stretch/>
        </p:blipFill>
        <p:spPr>
          <a:xfrm>
            <a:off x="0" y="6119336"/>
            <a:ext cx="12192000" cy="742950"/>
          </a:xfrm>
          <a:prstGeom prst="rect">
            <a:avLst/>
          </a:prstGeom>
        </p:spPr>
      </p:pic>
      <p:sp>
        <p:nvSpPr>
          <p:cNvPr id="13" name="Rectangle 12"/>
          <p:cNvSpPr/>
          <p:nvPr/>
        </p:nvSpPr>
        <p:spPr>
          <a:xfrm>
            <a:off x="0" y="468769"/>
            <a:ext cx="12192000" cy="5647024"/>
          </a:xfrm>
          <a:prstGeom prst="rect">
            <a:avLst/>
          </a:prstGeom>
          <a:gradFill flip="none" rotWithShape="1">
            <a:gsLst>
              <a:gs pos="0">
                <a:schemeClr val="bg2">
                  <a:alpha val="0"/>
                  <a:lumMod val="100000"/>
                </a:schemeClr>
              </a:gs>
              <a:gs pos="100000">
                <a:schemeClr val="bg2">
                  <a:lumMod val="95000"/>
                  <a:lumOff val="5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4" name="Straight Connector 13"/>
          <p:cNvCxnSpPr/>
          <p:nvPr/>
        </p:nvCxnSpPr>
        <p:spPr>
          <a:xfrm>
            <a:off x="0" y="6121269"/>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130270" y="953324"/>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130270" y="2171769"/>
            <a:ext cx="9603275" cy="329457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32830" y="330370"/>
            <a:ext cx="2515396"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5F375774-30ED-42B3-BE11-CB2A78F80A6E}" type="datetime1">
              <a:rPr lang="en-US" smtClean="0"/>
              <a:t>1/21/2024</a:t>
            </a:fld>
            <a:endParaRPr lang="en-US"/>
          </a:p>
        </p:txBody>
      </p:sp>
      <p:sp>
        <p:nvSpPr>
          <p:cNvPr id="5" name="Footer Placeholder 4"/>
          <p:cNvSpPr>
            <a:spLocks noGrp="1"/>
          </p:cNvSpPr>
          <p:nvPr>
            <p:ph type="ftr" sz="quarter" idx="3"/>
          </p:nvPr>
        </p:nvSpPr>
        <p:spPr>
          <a:xfrm>
            <a:off x="1130270"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918076" y="137408"/>
            <a:ext cx="811019" cy="503578"/>
          </a:xfrm>
          <a:prstGeom prst="rect">
            <a:avLst/>
          </a:prstGeom>
        </p:spPr>
        <p:txBody>
          <a:bodyPr vert="horz" lIns="91440" tIns="45720" rIns="91440" bIns="45720" rtlCol="0" anchor="t"/>
          <a:lstStyle>
            <a:lvl1pPr algn="r">
              <a:defRPr sz="2800">
                <a:solidFill>
                  <a:schemeClr val="accent1"/>
                </a:solidFill>
              </a:defRPr>
            </a:lvl1pPr>
          </a:lstStyle>
          <a:p>
            <a:fld id="{E3BB60B1-1EEA-42A6-8EA2-AFF0CEAB4E01}" type="slidenum">
              <a:rPr lang="en-US" smtClean="0"/>
              <a:t>‹#›</a:t>
            </a:fld>
            <a:endParaRPr lang="en-US"/>
          </a:p>
        </p:txBody>
      </p:sp>
    </p:spTree>
    <p:extLst>
      <p:ext uri="{BB962C8B-B14F-4D97-AF65-F5344CB8AC3E}">
        <p14:creationId xmlns:p14="http://schemas.microsoft.com/office/powerpoint/2010/main" val="2488006684"/>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Lst>
  <p:hf hdr="0" ftr="0" dt="0"/>
  <p:txStyles>
    <p:titleStyle>
      <a:lvl1pPr algn="l" defTabSz="914400" rtl="0" eaLnBrk="1" latinLnBrk="0" hangingPunct="1">
        <a:lnSpc>
          <a:spcPct val="90000"/>
        </a:lnSpc>
        <a:spcBef>
          <a:spcPct val="0"/>
        </a:spcBef>
        <a:buNone/>
        <a:defRPr sz="3200" b="0" i="0" kern="1200" cap="none">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iq.opengenus.org/ssd-mobilenet-v1-architecture/"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CEF71-E5A6-48B5-B94D-5852C742D199}"/>
              </a:ext>
            </a:extLst>
          </p:cNvPr>
          <p:cNvSpPr>
            <a:spLocks noGrp="1"/>
          </p:cNvSpPr>
          <p:nvPr>
            <p:ph type="ctrTitle"/>
          </p:nvPr>
        </p:nvSpPr>
        <p:spPr>
          <a:xfrm>
            <a:off x="1900851" y="1038179"/>
            <a:ext cx="8561747" cy="1521429"/>
          </a:xfrm>
        </p:spPr>
        <p:txBody>
          <a:bodyPr>
            <a:noAutofit/>
          </a:bodyPr>
          <a:lstStyle/>
          <a:p>
            <a:r>
              <a:rPr lang="en-US" sz="5400" b="1" dirty="0"/>
              <a:t>Anomaly Detection in Videos </a:t>
            </a:r>
          </a:p>
        </p:txBody>
      </p:sp>
      <p:sp>
        <p:nvSpPr>
          <p:cNvPr id="3" name="Subtitle 2">
            <a:extLst>
              <a:ext uri="{FF2B5EF4-FFF2-40B4-BE49-F238E27FC236}">
                <a16:creationId xmlns:a16="http://schemas.microsoft.com/office/drawing/2014/main" id="{0E724984-EB47-44DC-A1CD-B62120D6B581}"/>
              </a:ext>
            </a:extLst>
          </p:cNvPr>
          <p:cNvSpPr>
            <a:spLocks noGrp="1"/>
          </p:cNvSpPr>
          <p:nvPr>
            <p:ph type="subTitle" idx="1"/>
          </p:nvPr>
        </p:nvSpPr>
        <p:spPr>
          <a:xfrm>
            <a:off x="1996100" y="2622472"/>
            <a:ext cx="8561747" cy="1675922"/>
          </a:xfrm>
        </p:spPr>
        <p:txBody>
          <a:bodyPr>
            <a:normAutofit fontScale="92500" lnSpcReduction="20000"/>
          </a:bodyPr>
          <a:lstStyle/>
          <a:p>
            <a:pPr>
              <a:lnSpc>
                <a:spcPct val="170000"/>
              </a:lnSpc>
            </a:pPr>
            <a:r>
              <a:rPr lang="en-US" sz="2400" b="1" u="sng" cap="none" dirty="0"/>
              <a:t>USING OPENCV</a:t>
            </a:r>
          </a:p>
          <a:p>
            <a:pPr>
              <a:lnSpc>
                <a:spcPct val="170000"/>
              </a:lnSpc>
            </a:pPr>
            <a:r>
              <a:rPr lang="en-US" sz="1600" b="1" cap="none" dirty="0"/>
              <a:t>Project Head: </a:t>
            </a:r>
            <a:r>
              <a:rPr lang="en-US" sz="1600" b="1" u="sng" cap="none" dirty="0">
                <a:effectLst>
                  <a:outerShdw blurRad="38100" dist="38100" dir="2700000" algn="tl">
                    <a:srgbClr val="000000">
                      <a:alpha val="43137"/>
                    </a:srgbClr>
                  </a:outerShdw>
                </a:effectLst>
              </a:rPr>
              <a:t>Dr. Manoj Diwakar</a:t>
            </a:r>
          </a:p>
          <a:p>
            <a:pPr>
              <a:lnSpc>
                <a:spcPct val="170000"/>
              </a:lnSpc>
            </a:pPr>
            <a:r>
              <a:rPr lang="en-US" sz="1600" b="1" dirty="0"/>
              <a:t>Presented To: </a:t>
            </a:r>
            <a:r>
              <a:rPr lang="en-US" sz="1600" b="1" i="1" u="sng" dirty="0">
                <a:effectLst>
                  <a:outerShdw blurRad="38100" dist="38100" dir="2700000" algn="tl">
                    <a:srgbClr val="000000">
                      <a:alpha val="43137"/>
                    </a:srgbClr>
                  </a:outerShdw>
                </a:effectLst>
              </a:rPr>
              <a:t>Dr. Neeraj Kumar Pandey, Mr. </a:t>
            </a:r>
            <a:r>
              <a:rPr lang="en-US" sz="1600" b="1" i="1" u="sng">
                <a:effectLst>
                  <a:outerShdw blurRad="38100" dist="38100" dir="2700000" algn="tl">
                    <a:srgbClr val="000000">
                      <a:alpha val="43137"/>
                    </a:srgbClr>
                  </a:outerShdw>
                </a:effectLst>
              </a:rPr>
              <a:t>Piyush Agarwal</a:t>
            </a:r>
            <a:endParaRPr lang="en-US" sz="1600" b="1" i="1" u="sng" cap="none" dirty="0">
              <a:effectLst>
                <a:outerShdw blurRad="38100" dist="38100" dir="2700000" algn="tl">
                  <a:srgbClr val="000000">
                    <a:alpha val="43137"/>
                  </a:srgbClr>
                </a:outerShdw>
              </a:effectLst>
            </a:endParaRPr>
          </a:p>
          <a:p>
            <a:endParaRPr lang="en-US" cap="none" dirty="0"/>
          </a:p>
          <a:p>
            <a:endParaRPr lang="en-US" cap="none" dirty="0"/>
          </a:p>
        </p:txBody>
      </p:sp>
      <p:sp>
        <p:nvSpPr>
          <p:cNvPr id="6" name="TextBox 5">
            <a:extLst>
              <a:ext uri="{FF2B5EF4-FFF2-40B4-BE49-F238E27FC236}">
                <a16:creationId xmlns:a16="http://schemas.microsoft.com/office/drawing/2014/main" id="{901F148F-AF9C-461E-8FA5-6573F7760E5D}"/>
              </a:ext>
            </a:extLst>
          </p:cNvPr>
          <p:cNvSpPr txBox="1"/>
          <p:nvPr/>
        </p:nvSpPr>
        <p:spPr>
          <a:xfrm>
            <a:off x="1996099" y="4381545"/>
            <a:ext cx="4585675" cy="1077218"/>
          </a:xfrm>
          <a:prstGeom prst="rect">
            <a:avLst/>
          </a:prstGeom>
          <a:noFill/>
        </p:spPr>
        <p:txBody>
          <a:bodyPr wrap="square" rtlCol="0">
            <a:spAutoFit/>
          </a:bodyPr>
          <a:lstStyle/>
          <a:p>
            <a:r>
              <a:rPr lang="en-US" sz="1600" dirty="0"/>
              <a:t>A Mini Project created by Utkarsh Shukla</a:t>
            </a:r>
          </a:p>
          <a:p>
            <a:r>
              <a:rPr lang="en-US" sz="1600"/>
              <a:t>Section: DS2</a:t>
            </a:r>
          </a:p>
          <a:p>
            <a:r>
              <a:rPr lang="en-US" sz="1600"/>
              <a:t>THIRD </a:t>
            </a:r>
            <a:r>
              <a:rPr lang="en-US" sz="1600" dirty="0"/>
              <a:t>Semester</a:t>
            </a:r>
          </a:p>
          <a:p>
            <a:r>
              <a:rPr lang="en-US" sz="1600" dirty="0"/>
              <a:t>Btech CSE 2022-2026</a:t>
            </a:r>
          </a:p>
        </p:txBody>
      </p:sp>
      <p:sp>
        <p:nvSpPr>
          <p:cNvPr id="7" name="Rectangle 6">
            <a:extLst>
              <a:ext uri="{FF2B5EF4-FFF2-40B4-BE49-F238E27FC236}">
                <a16:creationId xmlns:a16="http://schemas.microsoft.com/office/drawing/2014/main" id="{5CBD88F3-CD4A-4EDF-9476-3C3A750691F3}"/>
              </a:ext>
            </a:extLst>
          </p:cNvPr>
          <p:cNvSpPr/>
          <p:nvPr/>
        </p:nvSpPr>
        <p:spPr>
          <a:xfrm>
            <a:off x="0" y="0"/>
            <a:ext cx="12192000" cy="6858000"/>
          </a:xfrm>
          <a:prstGeom prst="rect">
            <a:avLst/>
          </a:prstGeom>
          <a:no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13D6785-A36E-4DE4-AE57-8DF3EF3B4614}"/>
              </a:ext>
            </a:extLst>
          </p:cNvPr>
          <p:cNvSpPr/>
          <p:nvPr/>
        </p:nvSpPr>
        <p:spPr>
          <a:xfrm>
            <a:off x="86360" y="91440"/>
            <a:ext cx="12024360" cy="669036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lide Number Placeholder 12">
            <a:extLst>
              <a:ext uri="{FF2B5EF4-FFF2-40B4-BE49-F238E27FC236}">
                <a16:creationId xmlns:a16="http://schemas.microsoft.com/office/drawing/2014/main" id="{67969B50-C790-41EF-B75D-1D7B03FD9720}"/>
              </a:ext>
            </a:extLst>
          </p:cNvPr>
          <p:cNvSpPr>
            <a:spLocks noGrp="1"/>
          </p:cNvSpPr>
          <p:nvPr>
            <p:ph type="sldNum" sz="quarter" idx="12"/>
          </p:nvPr>
        </p:nvSpPr>
        <p:spPr/>
        <p:txBody>
          <a:bodyPr/>
          <a:lstStyle/>
          <a:p>
            <a:fld id="{E3BB60B1-1EEA-42A6-8EA2-AFF0CEAB4E01}" type="slidenum">
              <a:rPr lang="en-US" smtClean="0"/>
              <a:t>1</a:t>
            </a:fld>
            <a:endParaRPr lang="en-US"/>
          </a:p>
        </p:txBody>
      </p:sp>
    </p:spTree>
    <p:extLst>
      <p:ext uri="{BB962C8B-B14F-4D97-AF65-F5344CB8AC3E}">
        <p14:creationId xmlns:p14="http://schemas.microsoft.com/office/powerpoint/2010/main" val="8337995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3D97561-6450-42B9-BD47-858E07FD8EF7}"/>
              </a:ext>
            </a:extLst>
          </p:cNvPr>
          <p:cNvSpPr txBox="1"/>
          <p:nvPr/>
        </p:nvSpPr>
        <p:spPr>
          <a:xfrm>
            <a:off x="1314450" y="1514474"/>
            <a:ext cx="9129712" cy="646331"/>
          </a:xfrm>
          <a:prstGeom prst="rect">
            <a:avLst/>
          </a:prstGeom>
          <a:noFill/>
        </p:spPr>
        <p:txBody>
          <a:bodyPr wrap="square" rtlCol="0">
            <a:spAutoFit/>
          </a:bodyPr>
          <a:lstStyle/>
          <a:p>
            <a:r>
              <a:rPr lang="en-US" sz="3600" b="1" u="sng" dirty="0">
                <a:latin typeface="+mj-lt"/>
              </a:rPr>
              <a:t>APPROACH</a:t>
            </a:r>
          </a:p>
        </p:txBody>
      </p:sp>
      <p:sp>
        <p:nvSpPr>
          <p:cNvPr id="5" name="TextBox 4">
            <a:extLst>
              <a:ext uri="{FF2B5EF4-FFF2-40B4-BE49-F238E27FC236}">
                <a16:creationId xmlns:a16="http://schemas.microsoft.com/office/drawing/2014/main" id="{C304E046-7B22-4ED6-BDE9-AF52B45029CD}"/>
              </a:ext>
            </a:extLst>
          </p:cNvPr>
          <p:cNvSpPr txBox="1"/>
          <p:nvPr/>
        </p:nvSpPr>
        <p:spPr>
          <a:xfrm>
            <a:off x="1314450" y="2576036"/>
            <a:ext cx="9272587" cy="2802819"/>
          </a:xfrm>
          <a:prstGeom prst="rect">
            <a:avLst/>
          </a:prstGeom>
          <a:noFill/>
        </p:spPr>
        <p:txBody>
          <a:bodyPr wrap="square" rtlCol="0">
            <a:spAutoFit/>
          </a:bodyPr>
          <a:lstStyle/>
          <a:p>
            <a:pPr>
              <a:lnSpc>
                <a:spcPct val="150000"/>
              </a:lnSpc>
            </a:pPr>
            <a:r>
              <a:rPr lang="en-US" sz="2000" b="1" i="0" dirty="0">
                <a:effectLst/>
              </a:rPr>
              <a:t>This Python code uses SSD Mobile Net Model </a:t>
            </a:r>
            <a:r>
              <a:rPr lang="en-US" sz="2000" b="1" dirty="0"/>
              <a:t>and</a:t>
            </a:r>
            <a:r>
              <a:rPr lang="en-US" sz="2000" b="1" i="0" dirty="0">
                <a:effectLst/>
              </a:rPr>
              <a:t> various library to detect anomalies in a video file. It calculates the absolute difference between consecutive frames in the video, converts the frames to grayscale, and then applies a threshold to highlight significant changes. Finally, it finds contours in the threshold image and displays the frames with detected anomalies.</a:t>
            </a:r>
            <a:endParaRPr lang="en-US" sz="2000" b="1" dirty="0"/>
          </a:p>
        </p:txBody>
      </p:sp>
      <p:sp>
        <p:nvSpPr>
          <p:cNvPr id="8" name="Slide Number Placeholder 7">
            <a:extLst>
              <a:ext uri="{FF2B5EF4-FFF2-40B4-BE49-F238E27FC236}">
                <a16:creationId xmlns:a16="http://schemas.microsoft.com/office/drawing/2014/main" id="{68BEA02E-F473-4828-9180-9E9BD2B6E9FA}"/>
              </a:ext>
            </a:extLst>
          </p:cNvPr>
          <p:cNvSpPr>
            <a:spLocks noGrp="1"/>
          </p:cNvSpPr>
          <p:nvPr>
            <p:ph type="sldNum" sz="quarter" idx="12"/>
          </p:nvPr>
        </p:nvSpPr>
        <p:spPr/>
        <p:txBody>
          <a:bodyPr/>
          <a:lstStyle/>
          <a:p>
            <a:fld id="{E3BB60B1-1EEA-42A6-8EA2-AFF0CEAB4E01}" type="slidenum">
              <a:rPr lang="en-US" smtClean="0"/>
              <a:t>2</a:t>
            </a:fld>
            <a:endParaRPr lang="en-US"/>
          </a:p>
        </p:txBody>
      </p:sp>
    </p:spTree>
    <p:extLst>
      <p:ext uri="{BB962C8B-B14F-4D97-AF65-F5344CB8AC3E}">
        <p14:creationId xmlns:p14="http://schemas.microsoft.com/office/powerpoint/2010/main" val="27665969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99516-4A79-A72C-3BDD-16192E70F5F8}"/>
              </a:ext>
            </a:extLst>
          </p:cNvPr>
          <p:cNvSpPr>
            <a:spLocks noGrp="1"/>
          </p:cNvSpPr>
          <p:nvPr>
            <p:ph type="title"/>
          </p:nvPr>
        </p:nvSpPr>
        <p:spPr>
          <a:xfrm>
            <a:off x="1130270" y="953324"/>
            <a:ext cx="9603275" cy="614219"/>
          </a:xfrm>
        </p:spPr>
        <p:txBody>
          <a:bodyPr/>
          <a:lstStyle/>
          <a:p>
            <a:r>
              <a:rPr lang="en-US" dirty="0"/>
              <a:t>                    </a:t>
            </a:r>
            <a:r>
              <a:rPr lang="en-US" b="1" dirty="0"/>
              <a:t>SSD MOBILE NET MODEL</a:t>
            </a:r>
            <a:endParaRPr lang="en-IN" dirty="0"/>
          </a:p>
        </p:txBody>
      </p:sp>
      <p:sp>
        <p:nvSpPr>
          <p:cNvPr id="3" name="Content Placeholder 2">
            <a:extLst>
              <a:ext uri="{FF2B5EF4-FFF2-40B4-BE49-F238E27FC236}">
                <a16:creationId xmlns:a16="http://schemas.microsoft.com/office/drawing/2014/main" id="{A0D37A12-A8F2-5899-2F82-958FEE4B9CA3}"/>
              </a:ext>
            </a:extLst>
          </p:cNvPr>
          <p:cNvSpPr>
            <a:spLocks noGrp="1"/>
          </p:cNvSpPr>
          <p:nvPr>
            <p:ph idx="1"/>
          </p:nvPr>
        </p:nvSpPr>
        <p:spPr>
          <a:xfrm>
            <a:off x="1130270" y="1879881"/>
            <a:ext cx="9603275" cy="3586464"/>
          </a:xfrm>
        </p:spPr>
        <p:txBody>
          <a:bodyPr>
            <a:normAutofit lnSpcReduction="10000"/>
          </a:bodyPr>
          <a:lstStyle/>
          <a:p>
            <a:r>
              <a:rPr lang="en-US" sz="2400" b="0" i="0" dirty="0">
                <a:solidFill>
                  <a:srgbClr val="111111"/>
                </a:solidFill>
                <a:effectLst/>
                <a:latin typeface="-apple-system"/>
              </a:rPr>
              <a:t>SSD </a:t>
            </a:r>
            <a:r>
              <a:rPr lang="en-US" sz="2400" b="0" i="0" dirty="0" err="1">
                <a:solidFill>
                  <a:srgbClr val="111111"/>
                </a:solidFill>
                <a:effectLst/>
                <a:latin typeface="-apple-system"/>
              </a:rPr>
              <a:t>MobileNet</a:t>
            </a:r>
            <a:r>
              <a:rPr lang="en-US" sz="2400" b="0" i="0" dirty="0">
                <a:solidFill>
                  <a:srgbClr val="111111"/>
                </a:solidFill>
                <a:effectLst/>
                <a:latin typeface="-apple-system"/>
              </a:rPr>
              <a:t> is a type of </a:t>
            </a:r>
            <a:r>
              <a:rPr lang="en-US" sz="2400" b="1" i="0" dirty="0">
                <a:solidFill>
                  <a:srgbClr val="111111"/>
                </a:solidFill>
                <a:effectLst/>
                <a:latin typeface="-apple-system"/>
              </a:rPr>
              <a:t>object detection model</a:t>
            </a:r>
            <a:r>
              <a:rPr lang="en-US" sz="2400" b="0" i="0" dirty="0">
                <a:solidFill>
                  <a:srgbClr val="111111"/>
                </a:solidFill>
                <a:effectLst/>
                <a:latin typeface="-apple-system"/>
              </a:rPr>
              <a:t> that can find and classify objects in an image. It uses a </a:t>
            </a:r>
            <a:r>
              <a:rPr lang="en-US" sz="2400" b="1" i="0" dirty="0">
                <a:solidFill>
                  <a:srgbClr val="111111"/>
                </a:solidFill>
                <a:effectLst/>
                <a:latin typeface="-apple-system"/>
              </a:rPr>
              <a:t>single shot detector (SSD)</a:t>
            </a:r>
            <a:r>
              <a:rPr lang="en-US" sz="2400" b="0" i="0" dirty="0">
                <a:solidFill>
                  <a:srgbClr val="111111"/>
                </a:solidFill>
                <a:effectLst/>
                <a:latin typeface="-apple-system"/>
              </a:rPr>
              <a:t> algorithm that is fast and accurate, and a </a:t>
            </a:r>
            <a:r>
              <a:rPr lang="en-US" sz="2400" b="1" i="0" dirty="0" err="1">
                <a:solidFill>
                  <a:srgbClr val="111111"/>
                </a:solidFill>
                <a:effectLst/>
                <a:latin typeface="-apple-system"/>
              </a:rPr>
              <a:t>MobileNet</a:t>
            </a:r>
            <a:r>
              <a:rPr lang="en-US" sz="2400" b="0" i="0" dirty="0">
                <a:solidFill>
                  <a:srgbClr val="111111"/>
                </a:solidFill>
                <a:effectLst/>
                <a:latin typeface="-apple-system"/>
              </a:rPr>
              <a:t> backbone that is lightweight and optimized for mobile devices.</a:t>
            </a:r>
          </a:p>
          <a:p>
            <a:r>
              <a:rPr lang="en-US" sz="2400" i="0" dirty="0">
                <a:solidFill>
                  <a:schemeClr val="tx1">
                    <a:lumMod val="95000"/>
                    <a:lumOff val="5000"/>
                  </a:schemeClr>
                </a:solidFill>
                <a:effectLst/>
                <a:latin typeface="Inter"/>
              </a:rPr>
              <a:t>It is an object detection model with 267 layers and 15 million parameters. It provides real-time inference under compute constraints in devices like smartphones. Once trained, MobileNetSSDv2 can be stored with 63 MB, making it an ideal model to use on smaller devices</a:t>
            </a:r>
            <a:r>
              <a:rPr lang="en-US" sz="2000" i="0" dirty="0">
                <a:solidFill>
                  <a:schemeClr val="tx1">
                    <a:lumMod val="95000"/>
                    <a:lumOff val="5000"/>
                  </a:schemeClr>
                </a:solidFill>
                <a:effectLst/>
                <a:latin typeface="Inter"/>
              </a:rPr>
              <a:t>.</a:t>
            </a:r>
            <a:endParaRPr lang="en-IN" sz="2400" dirty="0">
              <a:solidFill>
                <a:schemeClr val="tx1">
                  <a:lumMod val="95000"/>
                  <a:lumOff val="5000"/>
                </a:schemeClr>
              </a:solidFill>
            </a:endParaRPr>
          </a:p>
        </p:txBody>
      </p:sp>
      <p:sp>
        <p:nvSpPr>
          <p:cNvPr id="4" name="Slide Number Placeholder 3">
            <a:extLst>
              <a:ext uri="{FF2B5EF4-FFF2-40B4-BE49-F238E27FC236}">
                <a16:creationId xmlns:a16="http://schemas.microsoft.com/office/drawing/2014/main" id="{89F16528-83B4-21BB-1479-35BA5AEEE314}"/>
              </a:ext>
            </a:extLst>
          </p:cNvPr>
          <p:cNvSpPr>
            <a:spLocks noGrp="1"/>
          </p:cNvSpPr>
          <p:nvPr>
            <p:ph type="sldNum" sz="quarter" idx="12"/>
          </p:nvPr>
        </p:nvSpPr>
        <p:spPr/>
        <p:txBody>
          <a:bodyPr/>
          <a:lstStyle/>
          <a:p>
            <a:fld id="{E3BB60B1-1EEA-42A6-8EA2-AFF0CEAB4E01}" type="slidenum">
              <a:rPr lang="en-US" smtClean="0"/>
              <a:t>3</a:t>
            </a:fld>
            <a:endParaRPr lang="en-US"/>
          </a:p>
        </p:txBody>
      </p:sp>
    </p:spTree>
    <p:extLst>
      <p:ext uri="{BB962C8B-B14F-4D97-AF65-F5344CB8AC3E}">
        <p14:creationId xmlns:p14="http://schemas.microsoft.com/office/powerpoint/2010/main" val="37731040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34724-D098-B39E-9D71-5A8740139DE3}"/>
              </a:ext>
            </a:extLst>
          </p:cNvPr>
          <p:cNvSpPr>
            <a:spLocks noGrp="1"/>
          </p:cNvSpPr>
          <p:nvPr>
            <p:ph type="title"/>
          </p:nvPr>
        </p:nvSpPr>
        <p:spPr>
          <a:xfrm>
            <a:off x="1130270" y="953324"/>
            <a:ext cx="9603275" cy="651541"/>
          </a:xfrm>
        </p:spPr>
        <p:txBody>
          <a:bodyPr/>
          <a:lstStyle/>
          <a:p>
            <a:r>
              <a:rPr lang="en-US" b="1" dirty="0"/>
              <a:t>ADVANTAGES OF SSD MOBILE NET MODLE</a:t>
            </a:r>
            <a:endParaRPr lang="en-IN" b="1" dirty="0"/>
          </a:p>
        </p:txBody>
      </p:sp>
      <p:sp>
        <p:nvSpPr>
          <p:cNvPr id="3" name="Content Placeholder 2">
            <a:extLst>
              <a:ext uri="{FF2B5EF4-FFF2-40B4-BE49-F238E27FC236}">
                <a16:creationId xmlns:a16="http://schemas.microsoft.com/office/drawing/2014/main" id="{FAAE84A8-9EA9-BF3A-2BDA-C4E581907A1E}"/>
              </a:ext>
            </a:extLst>
          </p:cNvPr>
          <p:cNvSpPr>
            <a:spLocks noGrp="1"/>
          </p:cNvSpPr>
          <p:nvPr>
            <p:ph idx="1"/>
          </p:nvPr>
        </p:nvSpPr>
        <p:spPr>
          <a:xfrm>
            <a:off x="1130270" y="1604865"/>
            <a:ext cx="9603275" cy="3861480"/>
          </a:xfrm>
        </p:spPr>
        <p:txBody>
          <a:bodyPr/>
          <a:lstStyle/>
          <a:p>
            <a:r>
              <a:rPr lang="en-US" sz="2400" b="1" i="0" dirty="0">
                <a:solidFill>
                  <a:schemeClr val="tx1">
                    <a:lumMod val="95000"/>
                    <a:lumOff val="5000"/>
                  </a:schemeClr>
                </a:solidFill>
                <a:effectLst/>
                <a:latin typeface="-apple-system"/>
                <a:hlinkClick r:id="rId2">
                  <a:extLst>
                    <a:ext uri="{A12FA001-AC4F-418D-AE19-62706E023703}">
                      <ahyp:hlinkClr xmlns:ahyp="http://schemas.microsoft.com/office/drawing/2018/hyperlinkcolor" val="tx"/>
                    </a:ext>
                  </a:extLst>
                </a:hlinkClick>
              </a:rPr>
              <a:t>Low computational cost</a:t>
            </a:r>
            <a:r>
              <a:rPr lang="en-US" sz="2400" b="0" i="0" dirty="0">
                <a:solidFill>
                  <a:schemeClr val="tx1">
                    <a:lumMod val="95000"/>
                    <a:lumOff val="5000"/>
                  </a:schemeClr>
                </a:solidFill>
                <a:effectLst/>
                <a:latin typeface="-apple-system"/>
                <a:hlinkClick r:id="rId2">
                  <a:extLst>
                    <a:ext uri="{A12FA001-AC4F-418D-AE19-62706E023703}">
                      <ahyp:hlinkClr xmlns:ahyp="http://schemas.microsoft.com/office/drawing/2018/hyperlinkcolor" val="tx"/>
                    </a:ext>
                  </a:extLst>
                </a:hlinkClick>
              </a:rPr>
              <a:t>: The model uses </a:t>
            </a:r>
            <a:r>
              <a:rPr lang="en-US" sz="2400" b="1" i="0" dirty="0" err="1">
                <a:solidFill>
                  <a:schemeClr val="tx1">
                    <a:lumMod val="95000"/>
                    <a:lumOff val="5000"/>
                  </a:schemeClr>
                </a:solidFill>
                <a:effectLst/>
                <a:latin typeface="-apple-system"/>
                <a:hlinkClick r:id="rId2">
                  <a:extLst>
                    <a:ext uri="{A12FA001-AC4F-418D-AE19-62706E023703}">
                      <ahyp:hlinkClr xmlns:ahyp="http://schemas.microsoft.com/office/drawing/2018/hyperlinkcolor" val="tx"/>
                    </a:ext>
                  </a:extLst>
                </a:hlinkClick>
              </a:rPr>
              <a:t>depthwise</a:t>
            </a:r>
            <a:r>
              <a:rPr lang="en-US" sz="2400" b="1" i="0" dirty="0">
                <a:solidFill>
                  <a:schemeClr val="tx1">
                    <a:lumMod val="95000"/>
                    <a:lumOff val="5000"/>
                  </a:schemeClr>
                </a:solidFill>
                <a:effectLst/>
                <a:latin typeface="-apple-system"/>
                <a:hlinkClick r:id="rId2">
                  <a:extLst>
                    <a:ext uri="{A12FA001-AC4F-418D-AE19-62706E023703}">
                      <ahyp:hlinkClr xmlns:ahyp="http://schemas.microsoft.com/office/drawing/2018/hyperlinkcolor" val="tx"/>
                    </a:ext>
                  </a:extLst>
                </a:hlinkClick>
              </a:rPr>
              <a:t> separable convolution layers</a:t>
            </a:r>
            <a:r>
              <a:rPr lang="en-US" sz="2400" b="0" i="0" dirty="0">
                <a:solidFill>
                  <a:schemeClr val="tx1">
                    <a:lumMod val="95000"/>
                    <a:lumOff val="5000"/>
                  </a:schemeClr>
                </a:solidFill>
                <a:effectLst/>
                <a:latin typeface="-apple-system"/>
                <a:hlinkClick r:id="rId2">
                  <a:extLst>
                    <a:ext uri="{A12FA001-AC4F-418D-AE19-62706E023703}">
                      <ahyp:hlinkClr xmlns:ahyp="http://schemas.microsoft.com/office/drawing/2018/hyperlinkcolor" val="tx"/>
                    </a:ext>
                  </a:extLst>
                </a:hlinkClick>
              </a:rPr>
              <a:t> instead of standard convolution layers, which reduces the computational cost of the model and makes it more efficient</a:t>
            </a:r>
            <a:r>
              <a:rPr lang="en-US" b="0" i="0" dirty="0">
                <a:solidFill>
                  <a:schemeClr val="tx1">
                    <a:lumMod val="95000"/>
                    <a:lumOff val="5000"/>
                  </a:schemeClr>
                </a:solidFill>
                <a:effectLst/>
                <a:latin typeface="-apple-system"/>
              </a:rPr>
              <a:t>.</a:t>
            </a:r>
          </a:p>
          <a:p>
            <a:r>
              <a:rPr lang="en-US" sz="2400" b="1" i="0" dirty="0">
                <a:solidFill>
                  <a:schemeClr val="tx1">
                    <a:lumMod val="95000"/>
                    <a:lumOff val="5000"/>
                  </a:schemeClr>
                </a:solidFill>
                <a:effectLst/>
                <a:latin typeface="-apple-system"/>
                <a:hlinkClick r:id="rId2">
                  <a:extLst>
                    <a:ext uri="{A12FA001-AC4F-418D-AE19-62706E023703}">
                      <ahyp:hlinkClr xmlns:ahyp="http://schemas.microsoft.com/office/drawing/2018/hyperlinkcolor" val="tx"/>
                    </a:ext>
                  </a:extLst>
                </a:hlinkClick>
              </a:rPr>
              <a:t>High accuracy</a:t>
            </a:r>
            <a:r>
              <a:rPr lang="en-US" sz="2400" b="0" i="0" dirty="0">
                <a:solidFill>
                  <a:schemeClr val="tx1">
                    <a:lumMod val="95000"/>
                    <a:lumOff val="5000"/>
                  </a:schemeClr>
                </a:solidFill>
                <a:effectLst/>
                <a:latin typeface="-apple-system"/>
                <a:hlinkClick r:id="rId2">
                  <a:extLst>
                    <a:ext uri="{A12FA001-AC4F-418D-AE19-62706E023703}">
                      <ahyp:hlinkClr xmlns:ahyp="http://schemas.microsoft.com/office/drawing/2018/hyperlinkcolor" val="tx"/>
                    </a:ext>
                  </a:extLst>
                </a:hlinkClick>
              </a:rPr>
              <a:t>: The model has been trained on a large dataset and has achieved high accuracy in object detection tasks</a:t>
            </a:r>
            <a:r>
              <a:rPr lang="en-US" dirty="0">
                <a:solidFill>
                  <a:schemeClr val="tx1">
                    <a:lumMod val="95000"/>
                    <a:lumOff val="5000"/>
                  </a:schemeClr>
                </a:solidFill>
                <a:latin typeface="-apple-system"/>
              </a:rPr>
              <a:t>.</a:t>
            </a:r>
          </a:p>
          <a:p>
            <a:r>
              <a:rPr lang="en-US" sz="2400" b="1" i="0" dirty="0">
                <a:solidFill>
                  <a:schemeClr val="tx1">
                    <a:lumMod val="95000"/>
                    <a:lumOff val="5000"/>
                  </a:schemeClr>
                </a:solidFill>
                <a:effectLst/>
                <a:latin typeface="-apple-system"/>
                <a:hlinkClick r:id="rId2">
                  <a:extLst>
                    <a:ext uri="{A12FA001-AC4F-418D-AE19-62706E023703}">
                      <ahyp:hlinkClr xmlns:ahyp="http://schemas.microsoft.com/office/drawing/2018/hyperlinkcolor" val="tx"/>
                    </a:ext>
                  </a:extLst>
                </a:hlinkClick>
              </a:rPr>
              <a:t>Real-time performance</a:t>
            </a:r>
            <a:r>
              <a:rPr lang="en-US" sz="2400" b="0" i="0" dirty="0">
                <a:solidFill>
                  <a:schemeClr val="tx1">
                    <a:lumMod val="95000"/>
                    <a:lumOff val="5000"/>
                  </a:schemeClr>
                </a:solidFill>
                <a:effectLst/>
                <a:latin typeface="-apple-system"/>
                <a:hlinkClick r:id="rId2">
                  <a:extLst>
                    <a:ext uri="{A12FA001-AC4F-418D-AE19-62706E023703}">
                      <ahyp:hlinkClr xmlns:ahyp="http://schemas.microsoft.com/office/drawing/2018/hyperlinkcolor" val="tx"/>
                    </a:ext>
                  </a:extLst>
                </a:hlinkClick>
              </a:rPr>
              <a:t>: The model is designed to perform object detection tasks in real-time on mobile devices, making it ideal for applications that require fast processing times</a:t>
            </a:r>
            <a:r>
              <a:rPr lang="en-US" sz="2400" b="0" i="0" dirty="0">
                <a:solidFill>
                  <a:schemeClr val="tx1">
                    <a:lumMod val="95000"/>
                    <a:lumOff val="5000"/>
                  </a:schemeClr>
                </a:solidFill>
                <a:effectLst/>
                <a:latin typeface="-apple-system"/>
              </a:rPr>
              <a:t>.</a:t>
            </a:r>
            <a:endParaRPr lang="en-IN" sz="2400" dirty="0">
              <a:solidFill>
                <a:schemeClr val="tx1">
                  <a:lumMod val="95000"/>
                  <a:lumOff val="5000"/>
                </a:schemeClr>
              </a:solidFill>
            </a:endParaRPr>
          </a:p>
        </p:txBody>
      </p:sp>
      <p:sp>
        <p:nvSpPr>
          <p:cNvPr id="4" name="Slide Number Placeholder 3">
            <a:extLst>
              <a:ext uri="{FF2B5EF4-FFF2-40B4-BE49-F238E27FC236}">
                <a16:creationId xmlns:a16="http://schemas.microsoft.com/office/drawing/2014/main" id="{99B1F50B-75D4-C12A-6B6C-CA206E4E62A2}"/>
              </a:ext>
            </a:extLst>
          </p:cNvPr>
          <p:cNvSpPr>
            <a:spLocks noGrp="1"/>
          </p:cNvSpPr>
          <p:nvPr>
            <p:ph type="sldNum" sz="quarter" idx="12"/>
          </p:nvPr>
        </p:nvSpPr>
        <p:spPr/>
        <p:txBody>
          <a:bodyPr/>
          <a:lstStyle/>
          <a:p>
            <a:fld id="{E3BB60B1-1EEA-42A6-8EA2-AFF0CEAB4E01}" type="slidenum">
              <a:rPr lang="en-US" smtClean="0"/>
              <a:t>4</a:t>
            </a:fld>
            <a:endParaRPr lang="en-US"/>
          </a:p>
        </p:txBody>
      </p:sp>
    </p:spTree>
    <p:extLst>
      <p:ext uri="{BB962C8B-B14F-4D97-AF65-F5344CB8AC3E}">
        <p14:creationId xmlns:p14="http://schemas.microsoft.com/office/powerpoint/2010/main" val="7426079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F43FD-FEEF-E3DB-2BC9-3F91EA347CF4}"/>
              </a:ext>
            </a:extLst>
          </p:cNvPr>
          <p:cNvSpPr>
            <a:spLocks noGrp="1"/>
          </p:cNvSpPr>
          <p:nvPr>
            <p:ph type="title"/>
          </p:nvPr>
        </p:nvSpPr>
        <p:spPr>
          <a:xfrm>
            <a:off x="1130270" y="802434"/>
            <a:ext cx="9603275" cy="951721"/>
          </a:xfrm>
        </p:spPr>
        <p:txBody>
          <a:bodyPr>
            <a:noAutofit/>
          </a:bodyPr>
          <a:lstStyle/>
          <a:p>
            <a:r>
              <a:rPr lang="en-US" b="1" dirty="0"/>
              <a:t>DIFFERENCE BETWEEN SSD MOBILE NET MODEL AND MSD MOBILE NET MODEL</a:t>
            </a:r>
            <a:endParaRPr lang="en-IN" b="1" dirty="0"/>
          </a:p>
        </p:txBody>
      </p:sp>
      <p:sp>
        <p:nvSpPr>
          <p:cNvPr id="3" name="Content Placeholder 2">
            <a:extLst>
              <a:ext uri="{FF2B5EF4-FFF2-40B4-BE49-F238E27FC236}">
                <a16:creationId xmlns:a16="http://schemas.microsoft.com/office/drawing/2014/main" id="{576659DF-54EC-ABE5-D574-235A4F2713B5}"/>
              </a:ext>
            </a:extLst>
          </p:cNvPr>
          <p:cNvSpPr>
            <a:spLocks noGrp="1"/>
          </p:cNvSpPr>
          <p:nvPr>
            <p:ph idx="1"/>
          </p:nvPr>
        </p:nvSpPr>
        <p:spPr>
          <a:xfrm>
            <a:off x="1130270" y="1819469"/>
            <a:ext cx="9603275" cy="3646876"/>
          </a:xfrm>
        </p:spPr>
        <p:txBody>
          <a:bodyPr>
            <a:noAutofit/>
          </a:bodyPr>
          <a:lstStyle/>
          <a:p>
            <a:r>
              <a:rPr lang="en-US" i="0" dirty="0">
                <a:solidFill>
                  <a:srgbClr val="111111"/>
                </a:solidFill>
                <a:effectLst/>
                <a:latin typeface="-apple-system"/>
              </a:rPr>
              <a:t>SSD(Single Sort Detection)</a:t>
            </a:r>
            <a:r>
              <a:rPr lang="en-US" b="0" i="0" dirty="0">
                <a:solidFill>
                  <a:srgbClr val="111111"/>
                </a:solidFill>
                <a:effectLst/>
                <a:latin typeface="-apple-system"/>
              </a:rPr>
              <a:t> is a framework for object detection that uses a single neural network to predict bounding boxes and class labels.</a:t>
            </a:r>
          </a:p>
          <a:p>
            <a:r>
              <a:rPr lang="en-US" dirty="0">
                <a:solidFill>
                  <a:srgbClr val="111111"/>
                </a:solidFill>
                <a:latin typeface="-apple-system"/>
              </a:rPr>
              <a:t>It is Majorly used when we are performing single work(comparison) at a time. </a:t>
            </a:r>
            <a:endParaRPr lang="en-US" b="0" i="0" dirty="0">
              <a:solidFill>
                <a:srgbClr val="111111"/>
              </a:solidFill>
              <a:effectLst/>
              <a:latin typeface="-apple-system"/>
            </a:endParaRPr>
          </a:p>
          <a:p>
            <a:r>
              <a:rPr lang="en-US" b="0" i="0" dirty="0">
                <a:solidFill>
                  <a:srgbClr val="111111"/>
                </a:solidFill>
                <a:effectLst/>
                <a:latin typeface="-apple-system"/>
              </a:rPr>
              <a:t>SSD </a:t>
            </a:r>
            <a:r>
              <a:rPr lang="en-US" b="0" i="0" dirty="0" err="1">
                <a:solidFill>
                  <a:srgbClr val="111111"/>
                </a:solidFill>
                <a:effectLst/>
                <a:latin typeface="-apple-system"/>
              </a:rPr>
              <a:t>MobileNet</a:t>
            </a:r>
            <a:r>
              <a:rPr lang="en-US" b="0" i="0" dirty="0">
                <a:solidFill>
                  <a:srgbClr val="111111"/>
                </a:solidFill>
                <a:effectLst/>
                <a:latin typeface="-apple-system"/>
              </a:rPr>
              <a:t> is a combination of SSD and Mobile Net that achieves fast and accurate object detection.</a:t>
            </a:r>
          </a:p>
          <a:p>
            <a:r>
              <a:rPr lang="en-US" b="0" i="0" dirty="0">
                <a:solidFill>
                  <a:srgbClr val="111111"/>
                </a:solidFill>
                <a:effectLst/>
                <a:latin typeface="-apple-system"/>
              </a:rPr>
              <a:t>MSD </a:t>
            </a:r>
            <a:r>
              <a:rPr lang="en-US" b="0" i="0" dirty="0" err="1">
                <a:solidFill>
                  <a:srgbClr val="111111"/>
                </a:solidFill>
                <a:effectLst/>
                <a:latin typeface="-apple-system"/>
              </a:rPr>
              <a:t>MobileNet</a:t>
            </a:r>
            <a:r>
              <a:rPr lang="en-US" b="0" i="0" dirty="0">
                <a:solidFill>
                  <a:srgbClr val="111111"/>
                </a:solidFill>
                <a:effectLst/>
                <a:latin typeface="-apple-system"/>
              </a:rPr>
              <a:t> is another neural network architecture that is based on </a:t>
            </a:r>
            <a:r>
              <a:rPr lang="en-US" b="0" i="0" dirty="0" err="1">
                <a:solidFill>
                  <a:srgbClr val="111111"/>
                </a:solidFill>
                <a:effectLst/>
                <a:latin typeface="-apple-system"/>
              </a:rPr>
              <a:t>MobileNet</a:t>
            </a:r>
            <a:r>
              <a:rPr lang="en-US" b="0" i="0" dirty="0">
                <a:solidFill>
                  <a:srgbClr val="111111"/>
                </a:solidFill>
                <a:effectLst/>
                <a:latin typeface="-apple-system"/>
              </a:rPr>
              <a:t> but uses multi-scale dense connections to improve performance.</a:t>
            </a:r>
          </a:p>
          <a:p>
            <a:r>
              <a:rPr lang="en-US" dirty="0">
                <a:solidFill>
                  <a:srgbClr val="111111"/>
                </a:solidFill>
                <a:latin typeface="-apple-system"/>
              </a:rPr>
              <a:t>It is relatively Slower.</a:t>
            </a:r>
          </a:p>
          <a:p>
            <a:r>
              <a:rPr lang="en-US" dirty="0">
                <a:solidFill>
                  <a:srgbClr val="111111"/>
                </a:solidFill>
                <a:latin typeface="-apple-system"/>
              </a:rPr>
              <a:t>It is Majorly used when we are performing Multiple work(comparison) at a time.</a:t>
            </a:r>
            <a:endParaRPr lang="en-IN" dirty="0"/>
          </a:p>
        </p:txBody>
      </p:sp>
      <p:sp>
        <p:nvSpPr>
          <p:cNvPr id="4" name="Slide Number Placeholder 3">
            <a:extLst>
              <a:ext uri="{FF2B5EF4-FFF2-40B4-BE49-F238E27FC236}">
                <a16:creationId xmlns:a16="http://schemas.microsoft.com/office/drawing/2014/main" id="{DE5F74A5-D6F0-A21B-4E17-CB90310A9C5C}"/>
              </a:ext>
            </a:extLst>
          </p:cNvPr>
          <p:cNvSpPr>
            <a:spLocks noGrp="1"/>
          </p:cNvSpPr>
          <p:nvPr>
            <p:ph type="sldNum" sz="quarter" idx="12"/>
          </p:nvPr>
        </p:nvSpPr>
        <p:spPr/>
        <p:txBody>
          <a:bodyPr/>
          <a:lstStyle/>
          <a:p>
            <a:fld id="{E3BB60B1-1EEA-42A6-8EA2-AFF0CEAB4E01}" type="slidenum">
              <a:rPr lang="en-US" smtClean="0"/>
              <a:t>5</a:t>
            </a:fld>
            <a:endParaRPr lang="en-US"/>
          </a:p>
        </p:txBody>
      </p:sp>
    </p:spTree>
    <p:extLst>
      <p:ext uri="{BB962C8B-B14F-4D97-AF65-F5344CB8AC3E}">
        <p14:creationId xmlns:p14="http://schemas.microsoft.com/office/powerpoint/2010/main" val="25071819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CBD88F3-CD4A-4EDF-9476-3C3A750691F3}"/>
              </a:ext>
            </a:extLst>
          </p:cNvPr>
          <p:cNvSpPr/>
          <p:nvPr/>
        </p:nvSpPr>
        <p:spPr>
          <a:xfrm>
            <a:off x="0" y="0"/>
            <a:ext cx="12192000" cy="6858000"/>
          </a:xfrm>
          <a:prstGeom prst="rect">
            <a:avLst/>
          </a:prstGeom>
          <a:no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13D6785-A36E-4DE4-AE57-8DF3EF3B4614}"/>
              </a:ext>
            </a:extLst>
          </p:cNvPr>
          <p:cNvSpPr/>
          <p:nvPr/>
        </p:nvSpPr>
        <p:spPr>
          <a:xfrm>
            <a:off x="86360" y="91440"/>
            <a:ext cx="12024360" cy="669036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CAEA408-11AC-4304-A03E-9181309A57B0}"/>
              </a:ext>
            </a:extLst>
          </p:cNvPr>
          <p:cNvSpPr txBox="1"/>
          <p:nvPr/>
        </p:nvSpPr>
        <p:spPr>
          <a:xfrm>
            <a:off x="1162050" y="981075"/>
            <a:ext cx="9515475" cy="707886"/>
          </a:xfrm>
          <a:prstGeom prst="rect">
            <a:avLst/>
          </a:prstGeom>
          <a:noFill/>
        </p:spPr>
        <p:txBody>
          <a:bodyPr wrap="square" rtlCol="0">
            <a:spAutoFit/>
          </a:bodyPr>
          <a:lstStyle/>
          <a:p>
            <a:r>
              <a:rPr lang="en-US" sz="4000" b="1" u="sng" dirty="0"/>
              <a:t>ABOUT THE CODE</a:t>
            </a:r>
          </a:p>
        </p:txBody>
      </p:sp>
      <p:sp>
        <p:nvSpPr>
          <p:cNvPr id="12" name="TextBox 11">
            <a:extLst>
              <a:ext uri="{FF2B5EF4-FFF2-40B4-BE49-F238E27FC236}">
                <a16:creationId xmlns:a16="http://schemas.microsoft.com/office/drawing/2014/main" id="{04D59D39-C7B5-4E32-876F-486BEE2D9EAB}"/>
              </a:ext>
            </a:extLst>
          </p:cNvPr>
          <p:cNvSpPr txBox="1"/>
          <p:nvPr/>
        </p:nvSpPr>
        <p:spPr>
          <a:xfrm>
            <a:off x="1162049" y="2089011"/>
            <a:ext cx="9496425" cy="3724096"/>
          </a:xfrm>
          <a:prstGeom prst="rect">
            <a:avLst/>
          </a:prstGeom>
          <a:noFill/>
        </p:spPr>
        <p:txBody>
          <a:bodyPr wrap="square" rtlCol="0">
            <a:spAutoFit/>
          </a:bodyPr>
          <a:lstStyle/>
          <a:p>
            <a:r>
              <a:rPr lang="en-US" sz="2000" dirty="0"/>
              <a:t>This script makes use of the following libraries:</a:t>
            </a:r>
          </a:p>
          <a:p>
            <a:endParaRPr lang="en-US" dirty="0"/>
          </a:p>
          <a:p>
            <a:pPr marL="342900" indent="-342900">
              <a:buAutoNum type="arabicPeriod"/>
            </a:pPr>
            <a:r>
              <a:rPr lang="en-US" b="1" dirty="0"/>
              <a:t>OpenCV</a:t>
            </a:r>
            <a:r>
              <a:rPr lang="en-US" dirty="0"/>
              <a:t>: A powerful open-source library in Python that includes over 2500 	computer vision algorithms. It provides support for a wide range of computer 	vision operations, such as image and video analysis, object detection, tracking, 	face detection, feature extraction, and a lot more.</a:t>
            </a:r>
          </a:p>
          <a:p>
            <a:endParaRPr lang="en-US" dirty="0"/>
          </a:p>
          <a:p>
            <a:r>
              <a:rPr lang="en-US" b="1" dirty="0"/>
              <a:t>2. Tkinter</a:t>
            </a:r>
            <a:r>
              <a:rPr lang="en-US" dirty="0"/>
              <a:t>: The </a:t>
            </a:r>
            <a:r>
              <a:rPr lang="en-US" b="0" i="0" dirty="0">
                <a:effectLst/>
              </a:rPr>
              <a:t>most commonly used library for developing GUI (Graphical User 	Interface) in Python. It is a standard Python interface to the Tk GUI toolkit 	shipped with Python. As Tk and Tkinter are available on most of the Unix 	platforms as well as on the Windows system, developing GUI applications with 	Tkinter becomes the fastest and easiest.</a:t>
            </a:r>
            <a:endParaRPr lang="en-US" dirty="0"/>
          </a:p>
          <a:p>
            <a:pPr marL="342900" indent="-342900">
              <a:buFont typeface="+mj-lt"/>
              <a:buAutoNum type="arabicPeriod"/>
            </a:pPr>
            <a:endParaRPr lang="en-US" dirty="0"/>
          </a:p>
        </p:txBody>
      </p:sp>
      <p:sp>
        <p:nvSpPr>
          <p:cNvPr id="13" name="Slide Number Placeholder 12">
            <a:extLst>
              <a:ext uri="{FF2B5EF4-FFF2-40B4-BE49-F238E27FC236}">
                <a16:creationId xmlns:a16="http://schemas.microsoft.com/office/drawing/2014/main" id="{777DF9FC-29E9-48C1-A107-61676846922A}"/>
              </a:ext>
            </a:extLst>
          </p:cNvPr>
          <p:cNvSpPr>
            <a:spLocks noGrp="1"/>
          </p:cNvSpPr>
          <p:nvPr>
            <p:ph type="sldNum" sz="quarter" idx="12"/>
          </p:nvPr>
        </p:nvSpPr>
        <p:spPr/>
        <p:txBody>
          <a:bodyPr/>
          <a:lstStyle/>
          <a:p>
            <a:fld id="{E3BB60B1-1EEA-42A6-8EA2-AFF0CEAB4E01}" type="slidenum">
              <a:rPr lang="en-US" smtClean="0"/>
              <a:t>6</a:t>
            </a:fld>
            <a:endParaRPr lang="en-US"/>
          </a:p>
        </p:txBody>
      </p:sp>
    </p:spTree>
    <p:extLst>
      <p:ext uri="{BB962C8B-B14F-4D97-AF65-F5344CB8AC3E}">
        <p14:creationId xmlns:p14="http://schemas.microsoft.com/office/powerpoint/2010/main" val="30117194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EBEC33F-0A7C-A299-EA1E-81D94A6C66ED}"/>
              </a:ext>
            </a:extLst>
          </p:cNvPr>
          <p:cNvSpPr>
            <a:spLocks noGrp="1"/>
          </p:cNvSpPr>
          <p:nvPr>
            <p:ph type="subTitle" idx="1"/>
          </p:nvPr>
        </p:nvSpPr>
        <p:spPr>
          <a:xfrm>
            <a:off x="1128404" y="970385"/>
            <a:ext cx="8637072" cy="4898570"/>
          </a:xfrm>
        </p:spPr>
        <p:txBody>
          <a:bodyPr>
            <a:normAutofit/>
          </a:bodyPr>
          <a:lstStyle/>
          <a:p>
            <a:r>
              <a:rPr lang="en-US" sz="2000" b="1" dirty="0"/>
              <a:t>3.)OS:</a:t>
            </a:r>
            <a:r>
              <a:rPr lang="en-US" sz="2000" b="0" i="0" dirty="0">
                <a:solidFill>
                  <a:srgbClr val="111111"/>
                </a:solidFill>
                <a:effectLst/>
                <a:latin typeface="-apple-system"/>
              </a:rPr>
              <a:t> The </a:t>
            </a:r>
            <a:r>
              <a:rPr lang="en-US" sz="2000" b="1" i="0" dirty="0" err="1">
                <a:solidFill>
                  <a:srgbClr val="111111"/>
                </a:solidFill>
                <a:effectLst/>
                <a:latin typeface="-apple-system"/>
              </a:rPr>
              <a:t>os</a:t>
            </a:r>
            <a:r>
              <a:rPr lang="en-US" sz="2000" b="0" i="0" dirty="0">
                <a:solidFill>
                  <a:srgbClr val="111111"/>
                </a:solidFill>
                <a:effectLst/>
                <a:latin typeface="-apple-system"/>
              </a:rPr>
              <a:t> module in Python provides a portable way of using operating system dependent functionality, such as handling files and directories, executing commands, getting environment variables, etc.</a:t>
            </a:r>
          </a:p>
          <a:p>
            <a:r>
              <a:rPr lang="en-US" sz="2000" b="1" dirty="0">
                <a:solidFill>
                  <a:srgbClr val="111111"/>
                </a:solidFill>
                <a:latin typeface="-apple-system"/>
              </a:rPr>
              <a:t>4.)tarfile:</a:t>
            </a:r>
            <a:r>
              <a:rPr lang="en-US" sz="2000" b="0" i="0" dirty="0">
                <a:solidFill>
                  <a:srgbClr val="111111"/>
                </a:solidFill>
                <a:effectLst/>
                <a:latin typeface="-apple-system"/>
              </a:rPr>
              <a:t> The tarfile function in Python is used to </a:t>
            </a:r>
            <a:r>
              <a:rPr lang="en-US" sz="2000" b="1" i="0" dirty="0">
                <a:solidFill>
                  <a:srgbClr val="111111"/>
                </a:solidFill>
                <a:effectLst/>
                <a:latin typeface="-apple-system"/>
              </a:rPr>
              <a:t>open a tar file</a:t>
            </a:r>
            <a:r>
              <a:rPr lang="en-US" sz="2000" b="0" i="0" dirty="0">
                <a:solidFill>
                  <a:srgbClr val="111111"/>
                </a:solidFill>
                <a:effectLst/>
                <a:latin typeface="-apple-system"/>
              </a:rPr>
              <a:t>. It returns a </a:t>
            </a:r>
            <a:r>
              <a:rPr lang="en-US" sz="2000" b="1" i="0" dirty="0">
                <a:solidFill>
                  <a:srgbClr val="111111"/>
                </a:solidFill>
                <a:effectLst/>
                <a:latin typeface="-apple-system"/>
              </a:rPr>
              <a:t>tarfile</a:t>
            </a:r>
            <a:r>
              <a:rPr lang="en-US" sz="2000" b="1" dirty="0">
                <a:solidFill>
                  <a:srgbClr val="111111"/>
                </a:solidFill>
                <a:latin typeface="-apple-system"/>
              </a:rPr>
              <a:t> </a:t>
            </a:r>
            <a:r>
              <a:rPr lang="en-US" sz="2000" b="1" i="0" dirty="0">
                <a:solidFill>
                  <a:srgbClr val="111111"/>
                </a:solidFill>
                <a:effectLst/>
                <a:latin typeface="-apple-system"/>
              </a:rPr>
              <a:t>object</a:t>
            </a:r>
            <a:r>
              <a:rPr lang="en-US" sz="2000" b="0" i="0" dirty="0">
                <a:solidFill>
                  <a:srgbClr val="111111"/>
                </a:solidFill>
                <a:effectLst/>
                <a:latin typeface="-apple-system"/>
              </a:rPr>
              <a:t> that can be used to read, write or extract files from the tar archive. A tar file is a compressed archive that can contain multiple files and directories.</a:t>
            </a:r>
          </a:p>
          <a:p>
            <a:r>
              <a:rPr lang="en-US" sz="2000" b="1" dirty="0">
                <a:solidFill>
                  <a:srgbClr val="111111"/>
                </a:solidFill>
                <a:latin typeface="-apple-system"/>
              </a:rPr>
              <a:t>5.)</a:t>
            </a:r>
            <a:r>
              <a:rPr lang="en-US" sz="2000" b="1" dirty="0" err="1">
                <a:solidFill>
                  <a:srgbClr val="111111"/>
                </a:solidFill>
                <a:latin typeface="-apple-system"/>
              </a:rPr>
              <a:t>urllib.request</a:t>
            </a:r>
            <a:r>
              <a:rPr lang="en-US" sz="2000" b="1" dirty="0">
                <a:solidFill>
                  <a:srgbClr val="111111"/>
                </a:solidFill>
                <a:latin typeface="-apple-system"/>
              </a:rPr>
              <a:t>:</a:t>
            </a:r>
            <a:r>
              <a:rPr lang="en-US" sz="2000" b="0" i="0" dirty="0">
                <a:solidFill>
                  <a:srgbClr val="111111"/>
                </a:solidFill>
                <a:effectLst/>
                <a:latin typeface="-apple-system"/>
              </a:rPr>
              <a:t> </a:t>
            </a:r>
            <a:r>
              <a:rPr lang="en-US" sz="2000" b="0" i="0" dirty="0" err="1">
                <a:solidFill>
                  <a:srgbClr val="111111"/>
                </a:solidFill>
                <a:effectLst/>
                <a:latin typeface="-apple-system"/>
              </a:rPr>
              <a:t>urllib.request</a:t>
            </a:r>
            <a:r>
              <a:rPr lang="en-US" sz="2000" b="0" i="0" dirty="0">
                <a:solidFill>
                  <a:srgbClr val="111111"/>
                </a:solidFill>
                <a:effectLst/>
                <a:latin typeface="-apple-system"/>
              </a:rPr>
              <a:t> is a Python module that allows you to open and read URLs. You can also pass data or parameters to the URL using the </a:t>
            </a:r>
            <a:r>
              <a:rPr lang="en-US" sz="2000" b="1" i="0" dirty="0">
                <a:solidFill>
                  <a:srgbClr val="111111"/>
                </a:solidFill>
                <a:effectLst/>
                <a:latin typeface="-apple-system"/>
              </a:rPr>
              <a:t>Request</a:t>
            </a:r>
            <a:r>
              <a:rPr lang="en-US" sz="2000" b="0" i="0" dirty="0">
                <a:solidFill>
                  <a:srgbClr val="111111"/>
                </a:solidFill>
                <a:effectLst/>
                <a:latin typeface="-apple-system"/>
              </a:rPr>
              <a:t> class.</a:t>
            </a:r>
          </a:p>
        </p:txBody>
      </p:sp>
      <p:sp>
        <p:nvSpPr>
          <p:cNvPr id="4" name="Slide Number Placeholder 3">
            <a:extLst>
              <a:ext uri="{FF2B5EF4-FFF2-40B4-BE49-F238E27FC236}">
                <a16:creationId xmlns:a16="http://schemas.microsoft.com/office/drawing/2014/main" id="{66602689-ED38-B8BB-B0AB-777AA0D29002}"/>
              </a:ext>
            </a:extLst>
          </p:cNvPr>
          <p:cNvSpPr>
            <a:spLocks noGrp="1"/>
          </p:cNvSpPr>
          <p:nvPr>
            <p:ph type="sldNum" sz="quarter" idx="12"/>
          </p:nvPr>
        </p:nvSpPr>
        <p:spPr/>
        <p:txBody>
          <a:bodyPr/>
          <a:lstStyle/>
          <a:p>
            <a:fld id="{E3BB60B1-1EEA-42A6-8EA2-AFF0CEAB4E01}" type="slidenum">
              <a:rPr lang="en-US" smtClean="0"/>
              <a:t>7</a:t>
            </a:fld>
            <a:endParaRPr lang="en-US"/>
          </a:p>
        </p:txBody>
      </p:sp>
    </p:spTree>
    <p:extLst>
      <p:ext uri="{BB962C8B-B14F-4D97-AF65-F5344CB8AC3E}">
        <p14:creationId xmlns:p14="http://schemas.microsoft.com/office/powerpoint/2010/main" val="20508707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F771C2-9E71-0F6D-2F2B-AD394A9F41E5}"/>
              </a:ext>
            </a:extLst>
          </p:cNvPr>
          <p:cNvSpPr>
            <a:spLocks noGrp="1"/>
          </p:cNvSpPr>
          <p:nvPr>
            <p:ph idx="1"/>
          </p:nvPr>
        </p:nvSpPr>
        <p:spPr>
          <a:xfrm>
            <a:off x="1130270" y="1017037"/>
            <a:ext cx="9603275" cy="4449308"/>
          </a:xfrm>
        </p:spPr>
        <p:txBody>
          <a:bodyPr/>
          <a:lstStyle/>
          <a:p>
            <a:r>
              <a:rPr lang="en-US" sz="2000" b="1" dirty="0">
                <a:solidFill>
                  <a:srgbClr val="111111"/>
                </a:solidFill>
                <a:latin typeface="-apple-system"/>
              </a:rPr>
              <a:t>6.)</a:t>
            </a:r>
            <a:r>
              <a:rPr lang="en-US" sz="2000" b="1" dirty="0" err="1">
                <a:solidFill>
                  <a:srgbClr val="111111"/>
                </a:solidFill>
                <a:latin typeface="-apple-system"/>
              </a:rPr>
              <a:t>numpy</a:t>
            </a:r>
            <a:r>
              <a:rPr lang="en-US" sz="2000" b="1" dirty="0">
                <a:solidFill>
                  <a:srgbClr val="111111"/>
                </a:solidFill>
                <a:latin typeface="-apple-system"/>
              </a:rPr>
              <a:t>:</a:t>
            </a:r>
            <a:r>
              <a:rPr lang="en-US" sz="2000" b="0" i="0" dirty="0">
                <a:solidFill>
                  <a:srgbClr val="111111"/>
                </a:solidFill>
                <a:effectLst/>
                <a:latin typeface="-apple-system"/>
              </a:rPr>
              <a:t> NumPy is a Python library for numerical computing that provides powerful data structures and functions for scientific computing tasks. NumPy functions are used to create, manipulate, and analyze NumPy arrays, which are the primary data structure used in NumPy.</a:t>
            </a:r>
            <a:endParaRPr lang="en-IN" sz="2000" b="1" dirty="0"/>
          </a:p>
          <a:p>
            <a:endParaRPr lang="en-IN" dirty="0"/>
          </a:p>
        </p:txBody>
      </p:sp>
      <p:sp>
        <p:nvSpPr>
          <p:cNvPr id="4" name="Slide Number Placeholder 3">
            <a:extLst>
              <a:ext uri="{FF2B5EF4-FFF2-40B4-BE49-F238E27FC236}">
                <a16:creationId xmlns:a16="http://schemas.microsoft.com/office/drawing/2014/main" id="{3F633BE5-2C99-9E66-FC02-9DB6C8709CC0}"/>
              </a:ext>
            </a:extLst>
          </p:cNvPr>
          <p:cNvSpPr>
            <a:spLocks noGrp="1"/>
          </p:cNvSpPr>
          <p:nvPr>
            <p:ph type="sldNum" sz="quarter" idx="12"/>
          </p:nvPr>
        </p:nvSpPr>
        <p:spPr/>
        <p:txBody>
          <a:bodyPr/>
          <a:lstStyle/>
          <a:p>
            <a:fld id="{E3BB60B1-1EEA-42A6-8EA2-AFF0CEAB4E01}" type="slidenum">
              <a:rPr lang="en-US" smtClean="0"/>
              <a:t>8</a:t>
            </a:fld>
            <a:endParaRPr lang="en-US"/>
          </a:p>
        </p:txBody>
      </p:sp>
    </p:spTree>
    <p:extLst>
      <p:ext uri="{BB962C8B-B14F-4D97-AF65-F5344CB8AC3E}">
        <p14:creationId xmlns:p14="http://schemas.microsoft.com/office/powerpoint/2010/main" val="2835016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D26AC-81C1-4745-926B-6E0A79523C26}"/>
              </a:ext>
            </a:extLst>
          </p:cNvPr>
          <p:cNvSpPr>
            <a:spLocks noGrp="1"/>
          </p:cNvSpPr>
          <p:nvPr>
            <p:ph type="title"/>
          </p:nvPr>
        </p:nvSpPr>
        <p:spPr/>
        <p:txBody>
          <a:bodyPr/>
          <a:lstStyle/>
          <a:p>
            <a:r>
              <a:rPr lang="en-US" b="1" u="sng" dirty="0">
                <a:effectLst>
                  <a:outerShdw blurRad="38100" dist="38100" dir="2700000" algn="tl">
                    <a:srgbClr val="000000">
                      <a:alpha val="43137"/>
                    </a:srgbClr>
                  </a:outerShdw>
                </a:effectLst>
              </a:rPr>
              <a:t>AREA OF FOCUS</a:t>
            </a:r>
          </a:p>
        </p:txBody>
      </p:sp>
      <p:sp>
        <p:nvSpPr>
          <p:cNvPr id="3" name="Content Placeholder 2">
            <a:extLst>
              <a:ext uri="{FF2B5EF4-FFF2-40B4-BE49-F238E27FC236}">
                <a16:creationId xmlns:a16="http://schemas.microsoft.com/office/drawing/2014/main" id="{FCF5DE74-C0E8-4689-B4AE-B98815B38771}"/>
              </a:ext>
            </a:extLst>
          </p:cNvPr>
          <p:cNvSpPr>
            <a:spLocks noGrp="1"/>
          </p:cNvSpPr>
          <p:nvPr>
            <p:ph idx="1"/>
          </p:nvPr>
        </p:nvSpPr>
        <p:spPr>
          <a:xfrm>
            <a:off x="1125820" y="1895544"/>
            <a:ext cx="9603275" cy="3294576"/>
          </a:xfrm>
        </p:spPr>
        <p:txBody>
          <a:bodyPr/>
          <a:lstStyle/>
          <a:p>
            <a:pPr marL="0" indent="0">
              <a:buNone/>
            </a:pPr>
            <a:r>
              <a:rPr lang="en-US" dirty="0"/>
              <a:t>This project mainly focuses on the detection and classification of moving objects in videos.</a:t>
            </a:r>
          </a:p>
          <a:p>
            <a:pPr marL="0" indent="0">
              <a:buNone/>
            </a:pPr>
            <a:r>
              <a:rPr lang="en-US" dirty="0"/>
              <a:t>The data collected from the video can be then used to perform other operations.</a:t>
            </a:r>
          </a:p>
          <a:p>
            <a:pPr marL="0" indent="0">
              <a:buNone/>
            </a:pPr>
            <a:r>
              <a:rPr lang="en-US" dirty="0"/>
              <a:t>This can be used in areas like security, surveillance and imaging. </a:t>
            </a:r>
          </a:p>
        </p:txBody>
      </p:sp>
      <p:sp>
        <p:nvSpPr>
          <p:cNvPr id="4" name="Slide Number Placeholder 3">
            <a:extLst>
              <a:ext uri="{FF2B5EF4-FFF2-40B4-BE49-F238E27FC236}">
                <a16:creationId xmlns:a16="http://schemas.microsoft.com/office/drawing/2014/main" id="{32D5A475-8732-4F25-95F8-70AD82E4414A}"/>
              </a:ext>
            </a:extLst>
          </p:cNvPr>
          <p:cNvSpPr>
            <a:spLocks noGrp="1"/>
          </p:cNvSpPr>
          <p:nvPr>
            <p:ph type="sldNum" sz="quarter" idx="12"/>
          </p:nvPr>
        </p:nvSpPr>
        <p:spPr/>
        <p:txBody>
          <a:bodyPr/>
          <a:lstStyle/>
          <a:p>
            <a:fld id="{E3BB60B1-1EEA-42A6-8EA2-AFF0CEAB4E01}" type="slidenum">
              <a:rPr lang="en-US" smtClean="0"/>
              <a:t>9</a:t>
            </a:fld>
            <a:endParaRPr lang="en-US"/>
          </a:p>
        </p:txBody>
      </p:sp>
    </p:spTree>
    <p:extLst>
      <p:ext uri="{BB962C8B-B14F-4D97-AF65-F5344CB8AC3E}">
        <p14:creationId xmlns:p14="http://schemas.microsoft.com/office/powerpoint/2010/main" val="10554238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0644D-0EDF-4E4D-AF00-727AAFC1927B}"/>
              </a:ext>
            </a:extLst>
          </p:cNvPr>
          <p:cNvSpPr>
            <a:spLocks noGrp="1"/>
          </p:cNvSpPr>
          <p:nvPr>
            <p:ph type="title"/>
          </p:nvPr>
        </p:nvSpPr>
        <p:spPr/>
        <p:txBody>
          <a:bodyPr/>
          <a:lstStyle/>
          <a:p>
            <a:r>
              <a:rPr lang="en-US" b="1" u="sng" dirty="0"/>
              <a:t>FUTURE OF THE PROJECT</a:t>
            </a:r>
          </a:p>
        </p:txBody>
      </p:sp>
      <p:sp>
        <p:nvSpPr>
          <p:cNvPr id="3" name="Content Placeholder 2">
            <a:extLst>
              <a:ext uri="{FF2B5EF4-FFF2-40B4-BE49-F238E27FC236}">
                <a16:creationId xmlns:a16="http://schemas.microsoft.com/office/drawing/2014/main" id="{B75AEA82-2DF1-4231-9B0F-286F36DEDBA8}"/>
              </a:ext>
            </a:extLst>
          </p:cNvPr>
          <p:cNvSpPr>
            <a:spLocks noGrp="1"/>
          </p:cNvSpPr>
          <p:nvPr>
            <p:ph idx="1"/>
          </p:nvPr>
        </p:nvSpPr>
        <p:spPr>
          <a:xfrm>
            <a:off x="1130270" y="1781712"/>
            <a:ext cx="9603275" cy="3294576"/>
          </a:xfrm>
        </p:spPr>
        <p:txBody>
          <a:bodyPr/>
          <a:lstStyle/>
          <a:p>
            <a:pPr marL="0" indent="0">
              <a:buNone/>
            </a:pPr>
            <a:r>
              <a:rPr lang="en-US" dirty="0"/>
              <a:t>As this project makes use of SSDMobileNetV2 Model, therefore it can be used on less capable devices like mobiles phones and security cameras.</a:t>
            </a:r>
          </a:p>
          <a:p>
            <a:pPr marL="0" indent="0">
              <a:buNone/>
            </a:pPr>
            <a:r>
              <a:rPr lang="en-US" dirty="0"/>
              <a:t>Hence, this project can be successfully ported to Android or iOS devices.</a:t>
            </a:r>
          </a:p>
          <a:p>
            <a:pPr marL="0" indent="0">
              <a:buNone/>
            </a:pPr>
            <a:r>
              <a:rPr lang="en-US" dirty="0"/>
              <a:t>An android app with this is a really promising idea and is great as a project as it handles both Machine Learning and Android Development.</a:t>
            </a:r>
          </a:p>
        </p:txBody>
      </p:sp>
      <p:sp>
        <p:nvSpPr>
          <p:cNvPr id="4" name="Slide Number Placeholder 3">
            <a:extLst>
              <a:ext uri="{FF2B5EF4-FFF2-40B4-BE49-F238E27FC236}">
                <a16:creationId xmlns:a16="http://schemas.microsoft.com/office/drawing/2014/main" id="{FE211469-697F-4D67-87A7-385526ADF2EE}"/>
              </a:ext>
            </a:extLst>
          </p:cNvPr>
          <p:cNvSpPr>
            <a:spLocks noGrp="1"/>
          </p:cNvSpPr>
          <p:nvPr>
            <p:ph type="sldNum" sz="quarter" idx="12"/>
          </p:nvPr>
        </p:nvSpPr>
        <p:spPr/>
        <p:txBody>
          <a:bodyPr/>
          <a:lstStyle/>
          <a:p>
            <a:fld id="{E3BB60B1-1EEA-42A6-8EA2-AFF0CEAB4E01}" type="slidenum">
              <a:rPr lang="en-US" smtClean="0"/>
              <a:t>10</a:t>
            </a:fld>
            <a:endParaRPr lang="en-US"/>
          </a:p>
        </p:txBody>
      </p:sp>
    </p:spTree>
    <p:extLst>
      <p:ext uri="{BB962C8B-B14F-4D97-AF65-F5344CB8AC3E}">
        <p14:creationId xmlns:p14="http://schemas.microsoft.com/office/powerpoint/2010/main" val="3345705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CBD88F3-CD4A-4EDF-9476-3C3A750691F3}"/>
              </a:ext>
            </a:extLst>
          </p:cNvPr>
          <p:cNvSpPr/>
          <p:nvPr/>
        </p:nvSpPr>
        <p:spPr>
          <a:xfrm>
            <a:off x="0" y="0"/>
            <a:ext cx="12192000" cy="6858000"/>
          </a:xfrm>
          <a:prstGeom prst="rect">
            <a:avLst/>
          </a:prstGeom>
          <a:no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13D6785-A36E-4DE4-AE57-8DF3EF3B4614}"/>
              </a:ext>
            </a:extLst>
          </p:cNvPr>
          <p:cNvSpPr/>
          <p:nvPr/>
        </p:nvSpPr>
        <p:spPr>
          <a:xfrm>
            <a:off x="86360" y="91440"/>
            <a:ext cx="12024360" cy="669036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560668D8-E43E-49AD-BED2-0A7CDA11273F}"/>
              </a:ext>
            </a:extLst>
          </p:cNvPr>
          <p:cNvSpPr>
            <a:spLocks noGrp="1"/>
          </p:cNvSpPr>
          <p:nvPr>
            <p:ph type="sldNum" sz="quarter" idx="12"/>
          </p:nvPr>
        </p:nvSpPr>
        <p:spPr/>
        <p:txBody>
          <a:bodyPr/>
          <a:lstStyle/>
          <a:p>
            <a:fld id="{E3BB60B1-1EEA-42A6-8EA2-AFF0CEAB4E01}" type="slidenum">
              <a:rPr lang="en-US" smtClean="0"/>
              <a:t>11</a:t>
            </a:fld>
            <a:endParaRPr lang="en-US"/>
          </a:p>
        </p:txBody>
      </p:sp>
      <p:sp>
        <p:nvSpPr>
          <p:cNvPr id="3" name="TextBox 2">
            <a:extLst>
              <a:ext uri="{FF2B5EF4-FFF2-40B4-BE49-F238E27FC236}">
                <a16:creationId xmlns:a16="http://schemas.microsoft.com/office/drawing/2014/main" id="{E8913EF2-51E5-4E05-A527-5A01D32F705F}"/>
              </a:ext>
            </a:extLst>
          </p:cNvPr>
          <p:cNvSpPr txBox="1"/>
          <p:nvPr/>
        </p:nvSpPr>
        <p:spPr>
          <a:xfrm>
            <a:off x="1181100" y="1400175"/>
            <a:ext cx="2514600" cy="830997"/>
          </a:xfrm>
          <a:prstGeom prst="rect">
            <a:avLst/>
          </a:prstGeom>
          <a:noFill/>
        </p:spPr>
        <p:txBody>
          <a:bodyPr wrap="square" rtlCol="0">
            <a:spAutoFit/>
          </a:bodyPr>
          <a:lstStyle/>
          <a:p>
            <a:r>
              <a:rPr lang="en-US" sz="4800" b="1" u="sng" dirty="0"/>
              <a:t>The End</a:t>
            </a:r>
          </a:p>
        </p:txBody>
      </p:sp>
      <p:sp>
        <p:nvSpPr>
          <p:cNvPr id="4" name="TextBox 3">
            <a:extLst>
              <a:ext uri="{FF2B5EF4-FFF2-40B4-BE49-F238E27FC236}">
                <a16:creationId xmlns:a16="http://schemas.microsoft.com/office/drawing/2014/main" id="{4E61DB40-5DF4-4763-A13B-E26CF08BDAAC}"/>
              </a:ext>
            </a:extLst>
          </p:cNvPr>
          <p:cNvSpPr txBox="1"/>
          <p:nvPr/>
        </p:nvSpPr>
        <p:spPr>
          <a:xfrm>
            <a:off x="1181100" y="2488774"/>
            <a:ext cx="9554311" cy="3044423"/>
          </a:xfrm>
          <a:prstGeom prst="rect">
            <a:avLst/>
          </a:prstGeom>
          <a:noFill/>
        </p:spPr>
        <p:txBody>
          <a:bodyPr wrap="square" rtlCol="0">
            <a:spAutoFit/>
          </a:bodyPr>
          <a:lstStyle/>
          <a:p>
            <a:pPr>
              <a:lnSpc>
                <a:spcPct val="150000"/>
              </a:lnSpc>
            </a:pPr>
            <a:r>
              <a:rPr lang="en-US" sz="2000" b="1" i="0" dirty="0">
                <a:effectLst/>
              </a:rPr>
              <a:t>I wanted to express my gratitude.</a:t>
            </a:r>
          </a:p>
          <a:p>
            <a:pPr>
              <a:lnSpc>
                <a:spcPct val="150000"/>
              </a:lnSpc>
            </a:pPr>
            <a:r>
              <a:rPr lang="en-US" sz="2000" b="1" dirty="0"/>
              <a:t>Thank You Sir</a:t>
            </a:r>
            <a:r>
              <a:rPr lang="en-US" sz="2000" b="1" i="0" dirty="0">
                <a:effectLst/>
              </a:rPr>
              <a:t> for taking the time to evaluate my mini-project on deep learning.</a:t>
            </a:r>
          </a:p>
          <a:p>
            <a:pPr>
              <a:lnSpc>
                <a:spcPct val="150000"/>
              </a:lnSpc>
            </a:pPr>
            <a:r>
              <a:rPr lang="en-US" sz="2000" b="1" i="0" dirty="0">
                <a:effectLst/>
              </a:rPr>
              <a:t>I appreciate your dedication to the students and your commitment to helping us learn and grow.</a:t>
            </a:r>
            <a:endParaRPr lang="en-US" sz="2000" b="1" dirty="0"/>
          </a:p>
          <a:p>
            <a:pPr>
              <a:lnSpc>
                <a:spcPct val="150000"/>
              </a:lnSpc>
            </a:pPr>
            <a:r>
              <a:rPr lang="en-US" sz="3200" b="1" dirty="0">
                <a:latin typeface="Arial Rounded MT Bold" panose="020F0704030504030204" pitchFamily="34" charset="0"/>
              </a:rPr>
              <a:t>THANK </a:t>
            </a:r>
            <a:r>
              <a:rPr lang="en-US" sz="3200" b="1" u="sng" dirty="0">
                <a:latin typeface="Arial Rounded MT Bold" panose="020F0704030504030204" pitchFamily="34" charset="0"/>
              </a:rPr>
              <a:t>YOU</a:t>
            </a:r>
          </a:p>
        </p:txBody>
      </p:sp>
    </p:spTree>
    <p:extLst>
      <p:ext uri="{BB962C8B-B14F-4D97-AF65-F5344CB8AC3E}">
        <p14:creationId xmlns:p14="http://schemas.microsoft.com/office/powerpoint/2010/main" val="2663394271"/>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CDCE0"/>
      </a:lt2>
      <a:accent1>
        <a:srgbClr val="415588"/>
      </a:accent1>
      <a:accent2>
        <a:srgbClr val="4294B6"/>
      </a:accent2>
      <a:accent3>
        <a:srgbClr val="087D7C"/>
      </a:accent3>
      <a:accent4>
        <a:srgbClr val="2CB663"/>
      </a:accent4>
      <a:accent5>
        <a:srgbClr val="DF8822"/>
      </a:accent5>
      <a:accent6>
        <a:srgbClr val="BC410A"/>
      </a:accent6>
      <a:hlink>
        <a:srgbClr val="5977C4"/>
      </a:hlink>
      <a:folHlink>
        <a:srgbClr val="A1A9BF"/>
      </a:folHlink>
    </a:clrScheme>
    <a:fontScheme name="Gallery">
      <a:majorFont>
        <a:latin typeface="Century Gothic" panose="020B0502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lumMod val="108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E050AC27-895F-4B90-991D-A6818FC89AB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304</TotalTime>
  <Words>889</Words>
  <Application>Microsoft Office PowerPoint</Application>
  <PresentationFormat>Widescreen</PresentationFormat>
  <Paragraphs>58</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-apple-system</vt:lpstr>
      <vt:lpstr>Arial</vt:lpstr>
      <vt:lpstr>Arial Rounded MT Bold</vt:lpstr>
      <vt:lpstr>Calibri</vt:lpstr>
      <vt:lpstr>Century Gothic</vt:lpstr>
      <vt:lpstr>Inter</vt:lpstr>
      <vt:lpstr>Gallery</vt:lpstr>
      <vt:lpstr>Anomaly Detection in Videos </vt:lpstr>
      <vt:lpstr>PowerPoint Presentation</vt:lpstr>
      <vt:lpstr>                    SSD MOBILE NET MODEL</vt:lpstr>
      <vt:lpstr>ADVANTAGES OF SSD MOBILE NET MODLE</vt:lpstr>
      <vt:lpstr>DIFFERENCE BETWEEN SSD MOBILE NET MODEL AND MSD MOBILE NET MODEL</vt:lpstr>
      <vt:lpstr>PowerPoint Presentation</vt:lpstr>
      <vt:lpstr>PowerPoint Presentation</vt:lpstr>
      <vt:lpstr>PowerPoint Presentation</vt:lpstr>
      <vt:lpstr>AREA OF FOCUS</vt:lpstr>
      <vt:lpstr>FUTURE OF THE PROJECT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Anomaly Detection in Videos</dc:title>
  <dc:creator>Piyush Pal1</dc:creator>
  <cp:lastModifiedBy>Piyush Pal1</cp:lastModifiedBy>
  <cp:revision>33</cp:revision>
  <dcterms:created xsi:type="dcterms:W3CDTF">2023-11-28T19:07:45Z</dcterms:created>
  <dcterms:modified xsi:type="dcterms:W3CDTF">2024-01-21T01:43:22Z</dcterms:modified>
</cp:coreProperties>
</file>